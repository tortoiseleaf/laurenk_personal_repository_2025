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2976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251379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2445691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6012224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5005633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8925091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259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95982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294887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238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578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111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8A5957-DE62-D49C-184A-B404533B25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502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6195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582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45645C-9942-149A-0973-4ACFB7BB1A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28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958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50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178555-696D-30D1-2897-E9ABA9E381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461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010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945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105ED2-A1FF-C53C-5D13-0BC8987AD6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767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123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408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E1E47A-4909-E7A2-3EC1-DE62E70022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36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8723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40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7A0FD3-6397-00D0-6F10-5CC6F5D27B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07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5049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124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2E8EA8-2C1F-EB7F-2EBE-AA859E7781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952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050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65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2EDF6A-5170-DCDE-1429-7FC6CBD951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768393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5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20262735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554608022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612679779" name="Title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59510372" name="Date Placeholder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411336033" name="Footer Placeholder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717862" name="Slide Number Placeholder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465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314028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310134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99047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5253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33085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223500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56452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5467237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3385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26454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305131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465301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2577022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8899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292284467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643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2114712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888023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6233372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8393369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398839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60770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888630989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130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6362786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28362825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74890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27533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61568050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33874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934482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7546129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692345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69761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853762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509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123995" name="Title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8025625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6426074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544363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3064831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265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8314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71840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85508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8657343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4747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13133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9416440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48324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9908586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5316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67008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68601413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0506001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54547644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96845116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03928145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3885139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6202281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1178443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78301372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90387258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63246886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6279437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1164879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83911003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23370277" name="Shape 1117"/>
          <p:cNvSpPr>
            <a:spLocks noChangeArrowheads="1" noGrp="1"/>
          </p:cNvSpPr>
          <p:nvPr userDrawn="1"/>
        </p:nvSpPr>
        <p:spPr bwMode="auto">
          <a:xfrm>
            <a:off x="1045632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83560558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6188528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7998319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55941003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64065503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26463437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60236316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9690289" name="Shape 1139"/>
          <p:cNvSpPr>
            <a:spLocks noChangeArrowheads="1" noGrp="1"/>
          </p:cNvSpPr>
          <p:nvPr userDrawn="1"/>
        </p:nvSpPr>
        <p:spPr bwMode="auto">
          <a:xfrm>
            <a:off x="1648462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9528055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46760323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3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41162334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40665564" name="Shape 1143"/>
          <p:cNvSpPr>
            <a:spLocks noChangeArrowheads="1" noGrp="1"/>
          </p:cNvSpPr>
          <p:nvPr userDrawn="1"/>
        </p:nvSpPr>
        <p:spPr bwMode="auto">
          <a:xfrm>
            <a:off x="3596920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92751181" name="Shape 1144"/>
          <p:cNvSpPr>
            <a:spLocks noChangeArrowheads="1" noGrp="1"/>
          </p:cNvSpPr>
          <p:nvPr userDrawn="1"/>
        </p:nvSpPr>
        <p:spPr bwMode="auto">
          <a:xfrm>
            <a:off x="3037843" y="5578669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13559218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64440981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517613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2364329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9616706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2725800" name="Title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713850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comparethemarket.com.au/energy/features/social-carbon-footprint-calculator/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388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MauiScreenTime</a:t>
            </a:r>
            <a:endParaRPr lang="en-GB"/>
          </a:p>
        </p:txBody>
      </p:sp>
      <p:sp>
        <p:nvSpPr>
          <p:cNvPr id="151848573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Lauren Keenan</a:t>
            </a:r>
            <a:endParaRPr lang="en-GB"/>
          </a:p>
          <a:p>
            <a:pPr marL="0" indent="0">
              <a:buFont typeface="Arial"/>
              <a:buNone/>
              <a:defRPr/>
            </a:pP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7224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Release #1</a:t>
            </a:r>
            <a:r>
              <a:rPr lang="en-GB" sz="4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 (end Nov 25)</a:t>
            </a:r>
            <a:endParaRPr b="0"/>
          </a:p>
        </p:txBody>
      </p:sp>
      <p:sp>
        <p:nvSpPr>
          <p:cNvPr id="99741193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 rot="16199969" flipH="0" flipV="0">
            <a:off x="2165460" y="-73067"/>
            <a:ext cx="7861078" cy="10588756"/>
          </a:xfrm>
        </p:spPr>
        <p:txBody>
          <a:bodyPr vertOverflow="overflow" horzOverflow="overflow" vert="eaVert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l">
              <a:buFont typeface="Arial"/>
              <a:buNone/>
              <a:defRPr/>
            </a:pPr>
            <a:endParaRPr sz="3200" b="1"/>
          </a:p>
          <a:p>
            <a:pPr algn="l">
              <a:defRPr/>
            </a:pP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CI/CD and dev environment set up</a:t>
            </a:r>
            <a:endParaRPr sz="3200"/>
          </a:p>
          <a:p>
            <a:pPr algn="l">
              <a:defRPr/>
            </a:pP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GDPR policy in place </a:t>
            </a:r>
            <a:endParaRPr lang="en-GB" sz="32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Consent system</a:t>
            </a:r>
            <a:endParaRPr lang="en-GB" sz="32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Store Data Locally</a:t>
            </a:r>
            <a:endParaRPr sz="3200"/>
          </a:p>
          <a:p>
            <a:pPr algn="l">
              <a:defRPr/>
            </a:pP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Research CO2 sinks</a:t>
            </a: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, bank of cool nature facts</a:t>
            </a:r>
            <a:endParaRPr lang="en-GB" sz="32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GB" sz="32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Permissions from user</a:t>
            </a:r>
            <a:endParaRPr sz="3200"/>
          </a:p>
          <a:p>
            <a:pPr algn="l">
              <a:defRPr/>
            </a:pPr>
            <a:r>
              <a:rPr lang="en-GB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Track screen time data</a:t>
            </a:r>
            <a:endParaRPr sz="3200"/>
          </a:p>
          <a:p>
            <a:pPr algn="l">
              <a:defRPr/>
            </a:pPr>
            <a:r>
              <a:rPr sz="3200"/>
              <a:t>Design documentation</a:t>
            </a:r>
            <a:r>
              <a:rPr sz="3200"/>
              <a:t> &amp; Agile ceremonies</a:t>
            </a:r>
            <a:endParaRPr sz="3200"/>
          </a:p>
          <a:p>
            <a:pPr marL="0" indent="0" algn="l">
              <a:buFont typeface="Arial"/>
              <a:buNone/>
              <a:defRPr/>
            </a:pPr>
            <a:endParaRPr sz="3200"/>
          </a:p>
          <a:p>
            <a:pPr marL="0" indent="0">
              <a:buFont typeface="Arial"/>
              <a:buNone/>
              <a:defRPr/>
            </a:pPr>
            <a:endParaRPr sz="32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7642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Release Plan</a:t>
            </a:r>
            <a:endParaRPr/>
          </a:p>
        </p:txBody>
      </p:sp>
      <p:sp>
        <p:nvSpPr>
          <p:cNvPr id="51400181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 rot="16199932" flipH="0" flipV="0">
            <a:off x="6520470" y="1137648"/>
            <a:ext cx="5180313" cy="5899246"/>
          </a:xfrm>
        </p:spPr>
        <p:txBody>
          <a:bodyPr/>
          <a:lstStyle/>
          <a:p>
            <a:pPr>
              <a:defRPr/>
            </a:pPr>
            <a:r>
              <a:rPr/>
              <a:t>Release #3</a:t>
            </a:r>
            <a:r>
              <a:rPr/>
              <a:t> (end Mar 26)</a:t>
            </a:r>
            <a:endParaRPr/>
          </a:p>
          <a:p>
            <a:pPr>
              <a:defRPr/>
            </a:pPr>
            <a:r>
              <a:rPr sz="1600"/>
              <a:t>Compare data with previous week total</a:t>
            </a:r>
            <a:endParaRPr sz="1600"/>
          </a:p>
          <a:p>
            <a:pPr>
              <a:defRPr/>
            </a:pPr>
            <a:r>
              <a:rPr sz="1600"/>
              <a:t>Calculate the CO2eq difference</a:t>
            </a:r>
            <a:endParaRPr sz="1600"/>
          </a:p>
          <a:p>
            <a:pPr>
              <a:defRPr/>
            </a:pPr>
            <a:r>
              <a:rPr lang="en-GB" sz="1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Tree goal logic </a:t>
            </a:r>
            <a:endParaRPr sz="1600"/>
          </a:p>
          <a:p>
            <a:pPr>
              <a:defRPr/>
            </a:pPr>
            <a:r>
              <a:rPr sz="1600"/>
              <a:t>Leader boards, personal bests, all users, trees planted</a:t>
            </a:r>
            <a:endParaRPr sz="1600"/>
          </a:p>
          <a:p>
            <a:pPr>
              <a:defRPr/>
            </a:pPr>
            <a:endParaRPr sz="1600"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/>
              <a:t>Release #4</a:t>
            </a:r>
            <a:r>
              <a:rPr/>
              <a:t> (end May 26)</a:t>
            </a:r>
            <a:endParaRPr/>
          </a:p>
          <a:p>
            <a:pPr>
              <a:defRPr/>
            </a:pPr>
            <a:r>
              <a:rPr sz="1600"/>
              <a:t>User testing</a:t>
            </a:r>
            <a:endParaRPr sz="1600"/>
          </a:p>
          <a:p>
            <a:pPr>
              <a:defRPr/>
            </a:pPr>
            <a:r>
              <a:rPr sz="1600"/>
              <a:t>Focus groups, how long to measure for</a:t>
            </a:r>
            <a:endParaRPr sz="1600"/>
          </a:p>
          <a:p>
            <a:pPr>
              <a:defRPr/>
            </a:pPr>
            <a:r>
              <a:rPr sz="1600"/>
              <a:t>Fully automated tested</a:t>
            </a:r>
            <a:endParaRPr sz="1600"/>
          </a:p>
          <a:p>
            <a:pPr>
              <a:defRPr/>
            </a:pPr>
            <a:r>
              <a:rPr sz="1600"/>
              <a:t>Produced and released</a:t>
            </a:r>
            <a:endParaRPr sz="1600"/>
          </a:p>
        </p:txBody>
      </p:sp>
      <p:sp>
        <p:nvSpPr>
          <p:cNvPr id="759916828" name="Vertical Text Placeholder 2"/>
          <p:cNvSpPr>
            <a:spLocks noGrp="1"/>
          </p:cNvSpPr>
          <p:nvPr/>
        </p:nvSpPr>
        <p:spPr bwMode="auto">
          <a:xfrm rot="16199932" flipH="0" flipV="0">
            <a:off x="621223" y="1137647"/>
            <a:ext cx="5180312" cy="5899245"/>
          </a:xfrm>
        </p:spPr>
        <p:txBody>
          <a:bodyPr vert="eaVert" lIns="91440" tIns="45720" rIns="91440" bIns="45720" rtlCol="0">
            <a:normAutofit/>
          </a:bodyPr>
          <a:lstStyle>
            <a:lvl1pPr marL="342900" indent="-342900" algn="l" defTabSz="914400" rtl="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8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/>
              <a:t>Release #1</a:t>
            </a:r>
            <a:r>
              <a:rPr/>
              <a:t> (end Nov 25)</a:t>
            </a:r>
            <a:endParaRPr/>
          </a:p>
          <a:p>
            <a:pPr>
              <a:defRPr/>
            </a:pPr>
            <a:r>
              <a:rPr sz="1600"/>
              <a:t>CI/CD and dev environment set up</a:t>
            </a:r>
            <a:endParaRPr sz="1600"/>
          </a:p>
          <a:p>
            <a:pPr>
              <a:defRPr/>
            </a:pPr>
            <a:r>
              <a:rPr sz="1600"/>
              <a:t>GDPR policy in place (Lauren)</a:t>
            </a:r>
            <a:endParaRPr sz="1600"/>
          </a:p>
          <a:p>
            <a:pPr>
              <a:defRPr/>
            </a:pPr>
            <a:r>
              <a:rPr sz="1600"/>
              <a:t>Research CO2 sinks</a:t>
            </a:r>
            <a:r>
              <a:rPr sz="1600"/>
              <a:t>, bank of cool nature facts</a:t>
            </a:r>
            <a:endParaRPr sz="1600"/>
          </a:p>
          <a:p>
            <a:pPr>
              <a:defRPr/>
            </a:pPr>
            <a:r>
              <a:rPr sz="1600"/>
              <a:t>Permissions from user</a:t>
            </a:r>
            <a:endParaRPr sz="1600"/>
          </a:p>
          <a:p>
            <a:pPr>
              <a:defRPr/>
            </a:pPr>
            <a:r>
              <a:rPr sz="1600"/>
              <a:t>Track screen time data</a:t>
            </a:r>
            <a:endParaRPr sz="1600"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/>
              <a:t>Release #2 (end Jan 26)</a:t>
            </a:r>
            <a:endParaRPr/>
          </a:p>
          <a:p>
            <a:pPr>
              <a:defRPr/>
            </a:pPr>
            <a:r>
              <a:rPr lang="en-GB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Store Data locally</a:t>
            </a:r>
            <a:endParaRPr sz="1600"/>
          </a:p>
          <a:p>
            <a:pPr>
              <a:defRPr/>
            </a:pPr>
            <a:r>
              <a:rPr sz="1600"/>
              <a:t>Display data</a:t>
            </a:r>
            <a:endParaRPr sz="1600"/>
          </a:p>
          <a:p>
            <a:pPr>
              <a:defRPr/>
            </a:pPr>
            <a:r>
              <a:rPr sz="1600"/>
              <a:t>Calculate CO2eq</a:t>
            </a:r>
            <a:endParaRPr sz="1600"/>
          </a:p>
          <a:p>
            <a:pPr>
              <a:defRPr/>
            </a:pPr>
            <a:r>
              <a:rPr sz="1600"/>
              <a:t>Nature facts DB</a:t>
            </a:r>
            <a:endParaRPr sz="1600"/>
          </a:p>
          <a:p>
            <a:pPr>
              <a:defRPr/>
            </a:pPr>
            <a:r>
              <a:rPr sz="1600"/>
              <a:t>Compare to natural event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9742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316380" y="770049"/>
            <a:ext cx="7566257" cy="78662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2000" b="1"/>
            </a:lvl1pPr>
          </a:lstStyle>
          <a:p>
            <a:pPr algn="ctr">
              <a:defRPr/>
            </a:pPr>
            <a:r>
              <a:rPr sz="3800"/>
              <a:t>Introduction</a:t>
            </a:r>
            <a:endParaRPr sz="3800"/>
          </a:p>
        </p:txBody>
      </p:sp>
      <p:sp>
        <p:nvSpPr>
          <p:cNvPr id="1445696504" name="Picture Placeholder 2"/>
          <p:cNvSpPr>
            <a:spLocks noGrp="1"/>
          </p:cNvSpPr>
          <p:nvPr>
            <p:ph type="pic" idx="1"/>
          </p:nvPr>
        </p:nvSpPr>
        <p:spPr bwMode="auto">
          <a:xfrm flipH="0" flipV="0">
            <a:off x="532003" y="2094021"/>
            <a:ext cx="11127987" cy="328720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ctr">
              <a:defRPr/>
            </a:pPr>
            <a:r>
              <a:rPr/>
              <a:t>A digital wellbeing app that converts user minutes spent on media/social media apps into CO2eq to compare with natural world events and incentivise healthier online habits by planting 1 Tree per 0.5Kg/1Kg of CO2eq saved by the user. Initiative to help inform consumers and reconnect users with the natural world.</a:t>
            </a: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r>
              <a:rPr sz="3600"/>
              <a:t>“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</a:t>
            </a:r>
            <a:r>
              <a:rPr sz="2800" b="1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-eq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is a metric measure used to compare the emissions from various</a:t>
            </a:r>
            <a:r>
              <a:rPr sz="2800">
                <a:latin typeface="Arial"/>
                <a:ea typeface="Arial"/>
                <a:cs typeface="Arial"/>
              </a:rPr>
              <a:t> greenhouse gases on the basis of their global-warming potential” </a:t>
            </a:r>
            <a:endParaRPr sz="2800"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en-GB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https://ec.europa.eu/eurostat/statistics-explained/index.php?title=Glossary:Carbon_dioxide_equivalent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738501" name="Picture Placeholder 2"/>
          <p:cNvSpPr>
            <a:spLocks noGrp="1"/>
          </p:cNvSpPr>
          <p:nvPr>
            <p:ph type="pic" idx="1"/>
          </p:nvPr>
        </p:nvSpPr>
        <p:spPr bwMode="auto">
          <a:xfrm flipH="0" flipV="0">
            <a:off x="303573" y="872381"/>
            <a:ext cx="11220913" cy="568378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394022" indent="-394022">
              <a:buFont typeface="Arial"/>
              <a:buChar char="–"/>
              <a:defRPr/>
            </a:pPr>
            <a:r>
              <a:rPr sz="2800"/>
              <a:t>Safe and performant background screen time tracking (GDPR)</a:t>
            </a:r>
            <a:endParaRPr sz="2800"/>
          </a:p>
          <a:p>
            <a:pPr marL="394022" indent="-394022">
              <a:buFont typeface="Arial"/>
              <a:buChar char="–"/>
              <a:defRPr/>
            </a:pPr>
            <a:endParaRPr sz="2800"/>
          </a:p>
          <a:p>
            <a:pPr marL="394022" indent="-394022">
              <a:buFont typeface="Arial"/>
              <a:buChar char="–"/>
              <a:defRPr/>
            </a:pPr>
            <a:r>
              <a:rPr sz="2800"/>
              <a:t>Local data storage </a:t>
            </a:r>
            <a:endParaRPr sz="2800"/>
          </a:p>
          <a:p>
            <a:pPr>
              <a:defRPr/>
            </a:pPr>
            <a:endParaRPr sz="2800"/>
          </a:p>
          <a:p>
            <a:pPr marL="394021" indent="-394021">
              <a:buFont typeface="Arial"/>
              <a:buChar char="–"/>
              <a:defRPr/>
            </a:pPr>
            <a:r>
              <a:rPr sz="2800"/>
              <a:t>Timers to restrict app usage?</a:t>
            </a:r>
            <a:r>
              <a:rPr sz="2800"/>
              <a:t> (exists in other apps, maybe focus on usps?)</a:t>
            </a:r>
            <a:endParaRPr sz="2800"/>
          </a:p>
          <a:p>
            <a:pPr>
              <a:defRPr/>
            </a:pPr>
            <a:endParaRPr sz="2800"/>
          </a:p>
          <a:p>
            <a:pPr marL="394022" indent="-394022">
              <a:buFont typeface="Arial"/>
              <a:buChar char="–"/>
              <a:defRPr/>
            </a:pPr>
            <a:r>
              <a:rPr sz="2800"/>
              <a:t>Compare user activity with previous weeks</a:t>
            </a:r>
            <a:endParaRPr sz="2800"/>
          </a:p>
          <a:p>
            <a:pPr>
              <a:defRPr/>
            </a:pPr>
            <a:endParaRPr sz="2800"/>
          </a:p>
          <a:p>
            <a:pPr marL="438079" indent="-438079">
              <a:buFont typeface="Arial"/>
              <a:buChar char="–"/>
              <a:defRPr/>
            </a:pPr>
            <a:r>
              <a:rPr sz="2800"/>
              <a:t>CO2eq calculations based on social carbon calculator</a:t>
            </a:r>
            <a:r>
              <a:rPr lang="en-GB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4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comparethemarket.com.au/</a:t>
            </a:r>
            <a:endParaRPr sz="2800"/>
          </a:p>
          <a:p>
            <a:pPr>
              <a:defRPr/>
            </a:pPr>
            <a:r>
              <a:rPr sz="2800"/>
              <a:t> </a:t>
            </a:r>
            <a:endParaRPr sz="2800"/>
          </a:p>
          <a:p>
            <a:pPr marL="438079" indent="-438079">
              <a:buFont typeface="Arial"/>
              <a:buChar char="–"/>
              <a:defRPr/>
            </a:pPr>
            <a:r>
              <a:rPr sz="2800"/>
              <a:t>Compare CO2eq to natural events</a:t>
            </a:r>
            <a:endParaRPr sz="2800"/>
          </a:p>
          <a:p>
            <a:pPr marL="438079" indent="-438079">
              <a:buFont typeface="Arial"/>
              <a:buChar char="–"/>
              <a:defRPr/>
            </a:pPr>
            <a:endParaRPr sz="2800"/>
          </a:p>
          <a:p>
            <a:pPr marL="349965" indent="-349965">
              <a:buFont typeface="Arial"/>
              <a:buChar char="–"/>
              <a:defRPr/>
            </a:pPr>
            <a:r>
              <a:rPr sz="2800"/>
              <a:t>Tree planting goals (0.5Kg saved/ 1Kg saved = 1 Tree planted)</a:t>
            </a:r>
            <a:endParaRPr sz="2800"/>
          </a:p>
          <a:p>
            <a:pPr marL="438079" indent="-438079">
              <a:buFont typeface="Arial"/>
              <a:buChar char="–"/>
              <a:defRPr/>
            </a:pPr>
            <a:endParaRPr sz="2800"/>
          </a:p>
          <a:p>
            <a:pPr marL="438079" indent="-438079">
              <a:buFont typeface="Arial"/>
              <a:buChar char="–"/>
              <a:defRPr/>
            </a:pPr>
            <a:r>
              <a:rPr sz="2800"/>
              <a:t>Leader boards</a:t>
            </a:r>
            <a:endParaRPr sz="2800"/>
          </a:p>
          <a:p>
            <a:pPr marL="438079" indent="-438079">
              <a:buFont typeface="Arial"/>
              <a:buChar char="–"/>
              <a:defRPr/>
            </a:pPr>
            <a:endParaRPr/>
          </a:p>
          <a:p>
            <a:pPr marL="438079" indent="-438079">
              <a:buFont typeface="Arial"/>
              <a:buChar char="–"/>
              <a:defRPr/>
            </a:pPr>
            <a:r>
              <a:rPr sz="2800"/>
              <a:t>Clean intuitive user Interface </a:t>
            </a:r>
            <a:endParaRPr/>
          </a:p>
        </p:txBody>
      </p:sp>
      <p:sp>
        <p:nvSpPr>
          <p:cNvPr id="1593215143" name=""/>
          <p:cNvSpPr txBox="1"/>
          <p:nvPr/>
        </p:nvSpPr>
        <p:spPr bwMode="auto">
          <a:xfrm rot="0" flipH="0" flipV="0">
            <a:off x="303573" y="160232"/>
            <a:ext cx="648209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Main Deliverables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086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n-GB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Lega</a:t>
            </a:r>
            <a:r>
              <a:rPr lang="en-GB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l</a:t>
            </a:r>
            <a:r>
              <a:rPr lang="en-GB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sz="2800"/>
          </a:p>
          <a:p>
            <a:pPr marL="305907" indent="-305907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Creating GDPR policy</a:t>
            </a:r>
            <a:endParaRPr lang="en-GB" sz="18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305907" indent="-305907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User controls over data</a:t>
            </a:r>
            <a:endParaRPr lang="en-GB" sz="18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305907" indent="-305907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Lawful processing </a:t>
            </a:r>
            <a:endParaRPr sz="1800"/>
          </a:p>
          <a:p>
            <a:pPr marL="305906" indent="-305906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Can processed data be kept for longer?</a:t>
            </a:r>
            <a:endParaRPr sz="1800" b="1"/>
          </a:p>
          <a:p>
            <a:pPr>
              <a:defRPr/>
            </a:pPr>
            <a:endParaRPr sz="2800"/>
          </a:p>
          <a:p>
            <a:pPr>
              <a:defRPr/>
            </a:pPr>
            <a:r>
              <a:rPr lang="en-GB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Research</a:t>
            </a:r>
            <a:endParaRPr sz="2800" b="1"/>
          </a:p>
          <a:p>
            <a:pPr marL="283878" indent="-283878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Create a bank of carbon sink events (milestones)</a:t>
            </a:r>
            <a:endParaRPr lang="en-GB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8" indent="-283878">
              <a:buFont typeface="Arial"/>
              <a:buChar char="–"/>
              <a:defRPr/>
            </a:pPr>
            <a:endParaRPr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Develop a more accurate and reusable formula</a:t>
            </a:r>
            <a:endParaRPr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Bank of offsets, alternatives</a:t>
            </a:r>
            <a:endParaRPr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1800"/>
          </a:p>
        </p:txBody>
      </p:sp>
      <p:sp>
        <p:nvSpPr>
          <p:cNvPr id="7401506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n-GB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Design (HCI)</a:t>
            </a:r>
            <a:endParaRPr lang="en-GB" sz="2800" b="1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Initial Design</a:t>
            </a:r>
            <a:endParaRPr lang="en-GB" sz="18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Landing page, Permissions, Splash Screen</a:t>
            </a:r>
            <a:endParaRPr lang="en-GB" sz="18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283878" indent="-283878">
              <a:buFont typeface="Arial"/>
              <a:buChar char="–"/>
              <a:defRPr/>
            </a:pPr>
            <a:endParaRPr sz="1800" b="0"/>
          </a:p>
          <a:p>
            <a:pPr marL="283878" indent="-283878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Refactoring known designs</a:t>
            </a:r>
            <a:endParaRPr sz="1800" b="0"/>
          </a:p>
          <a:p>
            <a:pPr marL="283878" indent="-283878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Different “Leagues”/Scoreboards: Personal bests, All users, Most Trees planted</a:t>
            </a:r>
            <a:endParaRPr/>
          </a:p>
          <a:p>
            <a:pPr marL="0" indent="0">
              <a:buFont typeface="Arial"/>
              <a:buNone/>
              <a:defRPr/>
            </a:pPr>
            <a:endParaRPr sz="2800" b="0"/>
          </a:p>
          <a:p>
            <a:pPr>
              <a:defRPr/>
            </a:pPr>
            <a:endParaRPr sz="2800" b="1"/>
          </a:p>
          <a:p>
            <a:pPr>
              <a:defRPr/>
            </a:pPr>
            <a:r>
              <a:rPr lang="en-GB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Development</a:t>
            </a:r>
            <a:endParaRPr sz="2800" b="1"/>
          </a:p>
          <a:p>
            <a:pPr marL="272864" indent="-272864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Using documentation and diagrams to build the software</a:t>
            </a:r>
            <a:endParaRPr sz="1800" b="0"/>
          </a:p>
          <a:p>
            <a:pPr marL="272863" indent="-272863">
              <a:buFont typeface="Arial"/>
              <a:buChar char="–"/>
              <a:defRPr/>
            </a:pPr>
            <a:r>
              <a:rPr lang="en-GB" sz="1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Potentially different teams between front and backend</a:t>
            </a:r>
            <a:endParaRPr sz="2800" b="0"/>
          </a:p>
          <a:p>
            <a:pPr>
              <a:defRPr/>
            </a:pPr>
            <a:endParaRPr/>
          </a:p>
        </p:txBody>
      </p:sp>
      <p:sp>
        <p:nvSpPr>
          <p:cNvPr id="1487952072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Skills Needed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2683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80632" y="680121"/>
            <a:ext cx="2612385" cy="5801616"/>
          </a:xfrm>
          <a:prstGeom prst="rect">
            <a:avLst/>
          </a:prstGeom>
        </p:spPr>
      </p:pic>
      <p:pic>
        <p:nvPicPr>
          <p:cNvPr id="3874173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53763" y="680121"/>
            <a:ext cx="2612385" cy="5801616"/>
          </a:xfrm>
          <a:prstGeom prst="rect">
            <a:avLst/>
          </a:prstGeom>
        </p:spPr>
      </p:pic>
      <p:sp>
        <p:nvSpPr>
          <p:cNvPr id="471128414" name=""/>
          <p:cNvSpPr txBox="1"/>
          <p:nvPr/>
        </p:nvSpPr>
        <p:spPr bwMode="auto">
          <a:xfrm rot="0" flipH="0" flipV="0">
            <a:off x="8614644" y="178035"/>
            <a:ext cx="2541546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/>
              <a:t>User erases Data</a:t>
            </a:r>
            <a:endParaRPr/>
          </a:p>
        </p:txBody>
      </p:sp>
      <p:sp>
        <p:nvSpPr>
          <p:cNvPr id="1199215197" name=""/>
          <p:cNvSpPr txBox="1"/>
          <p:nvPr/>
        </p:nvSpPr>
        <p:spPr bwMode="auto">
          <a:xfrm rot="0" flipH="0" flipV="0">
            <a:off x="4653763" y="178036"/>
            <a:ext cx="2604744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/>
              <a:t>Splash screen</a:t>
            </a:r>
            <a:endParaRPr/>
          </a:p>
        </p:txBody>
      </p:sp>
      <p:sp>
        <p:nvSpPr>
          <p:cNvPr id="486657851" name=""/>
          <p:cNvSpPr txBox="1"/>
          <p:nvPr/>
        </p:nvSpPr>
        <p:spPr bwMode="auto">
          <a:xfrm rot="0" flipH="0" flipV="0">
            <a:off x="1104463" y="2385699"/>
            <a:ext cx="2165083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Permissions</a:t>
            </a:r>
            <a:endParaRPr sz="1600"/>
          </a:p>
          <a:p>
            <a:pPr>
              <a:defRPr/>
            </a:pPr>
            <a:endParaRPr sz="1600"/>
          </a:p>
          <a:p>
            <a:pPr>
              <a:defRPr/>
            </a:pPr>
            <a:endParaRPr sz="1600"/>
          </a:p>
          <a:p>
            <a:pPr>
              <a:defRPr/>
            </a:pPr>
            <a:r>
              <a:rPr sz="1600"/>
              <a:t>Explanation of App how it works? 1 sentence?</a:t>
            </a:r>
            <a:endParaRPr sz="1600"/>
          </a:p>
        </p:txBody>
      </p:sp>
      <p:sp>
        <p:nvSpPr>
          <p:cNvPr id="2114406391" name=""/>
          <p:cNvSpPr txBox="1"/>
          <p:nvPr/>
        </p:nvSpPr>
        <p:spPr bwMode="auto">
          <a:xfrm rot="0" flipH="0" flipV="0">
            <a:off x="4950349" y="2519226"/>
            <a:ext cx="1961388" cy="20120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Explanation of estimates</a:t>
            </a:r>
            <a:endParaRPr sz="1800"/>
          </a:p>
          <a:p>
            <a:pPr>
              <a:defRPr/>
            </a:pPr>
            <a:endParaRPr sz="1800"/>
          </a:p>
          <a:p>
            <a:pPr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sources</a:t>
            </a:r>
            <a:endParaRPr sz="1800"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Loads up data in the background</a:t>
            </a:r>
            <a:endParaRPr/>
          </a:p>
        </p:txBody>
      </p:sp>
      <p:sp>
        <p:nvSpPr>
          <p:cNvPr id="1804151720" name=""/>
          <p:cNvSpPr txBox="1"/>
          <p:nvPr/>
        </p:nvSpPr>
        <p:spPr bwMode="auto">
          <a:xfrm rot="0" flipH="0" flipV="0">
            <a:off x="1104462" y="178035"/>
            <a:ext cx="2123683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/>
              <a:t>Intro page</a:t>
            </a:r>
            <a:endParaRPr/>
          </a:p>
        </p:txBody>
      </p:sp>
      <p:pic>
        <p:nvPicPr>
          <p:cNvPr id="18754878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490017" y="680121"/>
            <a:ext cx="2612385" cy="5801616"/>
          </a:xfrm>
          <a:prstGeom prst="rect">
            <a:avLst/>
          </a:prstGeom>
        </p:spPr>
      </p:pic>
      <p:sp>
        <p:nvSpPr>
          <p:cNvPr id="659940221" name=""/>
          <p:cNvSpPr txBox="1"/>
          <p:nvPr/>
        </p:nvSpPr>
        <p:spPr bwMode="auto">
          <a:xfrm rot="0" flipH="0" flipV="0">
            <a:off x="11102401" y="1815978"/>
            <a:ext cx="1194582" cy="7318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/>
              <a:t>With app deletion instead?</a:t>
            </a:r>
            <a:endParaRPr/>
          </a:p>
        </p:txBody>
      </p:sp>
      <p:sp>
        <p:nvSpPr>
          <p:cNvPr id="414945775" name=""/>
          <p:cNvSpPr txBox="1"/>
          <p:nvPr/>
        </p:nvSpPr>
        <p:spPr bwMode="auto">
          <a:xfrm rot="0" flipH="0" flipV="0">
            <a:off x="11156190" y="3940538"/>
            <a:ext cx="993807" cy="945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/>
              <a:t>unsafe?</a:t>
            </a:r>
            <a:endParaRPr sz="1400"/>
          </a:p>
          <a:p>
            <a:pPr>
              <a:defRPr/>
            </a:pPr>
            <a:r>
              <a:rPr sz="1400"/>
              <a:t>too many </a:t>
            </a:r>
            <a:endParaRPr sz="1400"/>
          </a:p>
          <a:p>
            <a:pPr>
              <a:defRPr/>
            </a:pPr>
            <a:r>
              <a:rPr sz="1400"/>
              <a:t>openings to DB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770766" name=""/>
          <p:cNvSpPr txBox="1"/>
          <p:nvPr/>
        </p:nvSpPr>
        <p:spPr bwMode="auto">
          <a:xfrm rot="0" flipH="0" flipV="0">
            <a:off x="3221546" y="1669965"/>
            <a:ext cx="1831596" cy="20120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Permissions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Tracking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Display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8121553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89805" y="680122"/>
            <a:ext cx="2612385" cy="5801618"/>
          </a:xfrm>
          <a:prstGeom prst="rect">
            <a:avLst/>
          </a:prstGeom>
        </p:spPr>
      </p:pic>
      <p:pic>
        <p:nvPicPr>
          <p:cNvPr id="76893866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97811" y="680122"/>
            <a:ext cx="2623732" cy="5826817"/>
          </a:xfrm>
          <a:prstGeom prst="rect">
            <a:avLst/>
          </a:prstGeom>
        </p:spPr>
      </p:pic>
      <p:sp>
        <p:nvSpPr>
          <p:cNvPr id="2102766697" name=""/>
          <p:cNvSpPr txBox="1"/>
          <p:nvPr/>
        </p:nvSpPr>
        <p:spPr bwMode="auto">
          <a:xfrm rot="0" flipH="0" flipV="0">
            <a:off x="7402191" y="1558634"/>
            <a:ext cx="2086920" cy="283499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Stores data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Compares: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Weeks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CO2eq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Events (calculable)</a:t>
            </a:r>
            <a:endParaRPr/>
          </a:p>
        </p:txBody>
      </p:sp>
      <p:sp>
        <p:nvSpPr>
          <p:cNvPr id="693227276" name=""/>
          <p:cNvSpPr txBox="1"/>
          <p:nvPr/>
        </p:nvSpPr>
        <p:spPr bwMode="auto">
          <a:xfrm rot="0" flipH="0" flipV="0">
            <a:off x="487964" y="173313"/>
            <a:ext cx="3127822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Phone tracks screen time</a:t>
            </a:r>
            <a:endParaRPr b="1"/>
          </a:p>
        </p:txBody>
      </p:sp>
      <p:sp>
        <p:nvSpPr>
          <p:cNvPr id="1173131342" name=""/>
          <p:cNvSpPr txBox="1"/>
          <p:nvPr/>
        </p:nvSpPr>
        <p:spPr bwMode="auto">
          <a:xfrm rot="0" flipH="0" flipV="0">
            <a:off x="4789805" y="200018"/>
            <a:ext cx="2624708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/>
              <a:t>Comparisons</a:t>
            </a:r>
            <a:endParaRPr/>
          </a:p>
        </p:txBody>
      </p:sp>
      <p:pic>
        <p:nvPicPr>
          <p:cNvPr id="31565348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997877" y="680122"/>
            <a:ext cx="2612385" cy="5801617"/>
          </a:xfrm>
          <a:prstGeom prst="rect">
            <a:avLst/>
          </a:prstGeom>
        </p:spPr>
      </p:pic>
      <p:sp>
        <p:nvSpPr>
          <p:cNvPr id="33172406" name=""/>
          <p:cNvSpPr txBox="1"/>
          <p:nvPr/>
        </p:nvSpPr>
        <p:spPr bwMode="auto">
          <a:xfrm rot="0" flipH="0" flipV="0">
            <a:off x="9068775" y="200018"/>
            <a:ext cx="2470587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Achievement Visuals</a:t>
            </a:r>
            <a:endParaRPr b="1"/>
          </a:p>
        </p:txBody>
      </p:sp>
      <p:sp>
        <p:nvSpPr>
          <p:cNvPr id="2000513553" name=""/>
          <p:cNvSpPr txBox="1"/>
          <p:nvPr/>
        </p:nvSpPr>
        <p:spPr bwMode="auto">
          <a:xfrm rot="0" flipH="0" flipV="0">
            <a:off x="3356915" y="3649765"/>
            <a:ext cx="1181198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Overall screen time per day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sz="1200"/>
              <a:t>apps listed with their specific screen time, </a:t>
            </a:r>
            <a:r>
              <a:rPr sz="1200"/>
              <a:t>co2eq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3267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Recap</a:t>
            </a:r>
            <a:endParaRPr/>
          </a:p>
        </p:txBody>
      </p:sp>
      <p:sp>
        <p:nvSpPr>
          <p:cNvPr id="1574665902" name="Content Placeholder 2"/>
          <p:cNvSpPr>
            <a:spLocks noGrp="1"/>
          </p:cNvSpPr>
          <p:nvPr>
            <p:ph idx="1"/>
          </p:nvPr>
        </p:nvSpPr>
        <p:spPr bwMode="auto">
          <a:xfrm>
            <a:off x="968144" y="2057898"/>
            <a:ext cx="10577333" cy="4525962"/>
          </a:xfrm>
        </p:spPr>
        <p:txBody>
          <a:bodyPr/>
          <a:lstStyle/>
          <a:p>
            <a:pPr algn="ctr">
              <a:defRPr/>
            </a:pPr>
            <a:r>
              <a:rPr sz="3600"/>
              <a:t>Dev -</a:t>
            </a:r>
            <a:r>
              <a:rPr/>
              <a:t> </a:t>
            </a:r>
            <a:r>
              <a:rPr sz="2400"/>
              <a:t>Permissions, basic App tracking</a:t>
            </a:r>
            <a:endParaRPr sz="2400"/>
          </a:p>
          <a:p>
            <a:pPr algn="ctr">
              <a:defRPr/>
            </a:pPr>
            <a:r>
              <a:rPr sz="3200"/>
              <a:t>UX/UI -</a:t>
            </a:r>
            <a:r>
              <a:rPr sz="3600"/>
              <a:t> </a:t>
            </a:r>
            <a:r>
              <a:rPr sz="2400"/>
              <a:t>Designing the landing pages, basic main page</a:t>
            </a:r>
            <a:endParaRPr sz="2400"/>
          </a:p>
          <a:p>
            <a:pPr algn="ctr">
              <a:defRPr/>
            </a:pPr>
            <a:r>
              <a:rPr sz="3600"/>
              <a:t>Legal</a:t>
            </a:r>
            <a:r>
              <a:rPr sz="2400"/>
              <a:t> - GDPR policy</a:t>
            </a:r>
            <a:endParaRPr sz="2400"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marL="0" indent="0" algn="ctr">
              <a:buFont typeface="Arial"/>
              <a:buNone/>
              <a:defRPr/>
            </a:pPr>
            <a:r>
              <a:rPr sz="4800"/>
              <a:t>Thanks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Official">
        <a:dk1>
          <a:srgbClr val="000000"/>
        </a:dk1>
        <a:lt1>
          <a:srgbClr val="FFFFFF"/>
        </a:lt1>
        <a:dk2>
          <a:srgbClr val="434342"/>
        </a:dk2>
        <a:lt2>
          <a:srgbClr val="CDD7D9"/>
        </a:lt2>
        <a:accent1>
          <a:srgbClr val="797B7E"/>
        </a:accent1>
        <a:accent2>
          <a:srgbClr val="F96A1B"/>
        </a:accent2>
        <a:accent3>
          <a:srgbClr val="08A1D9"/>
        </a:accent3>
        <a:accent4>
          <a:srgbClr val="7C984A"/>
        </a:accent4>
        <a:accent5>
          <a:srgbClr val="C2AD8D"/>
        </a:accent5>
        <a:accent6>
          <a:srgbClr val="506E94"/>
        </a:accent6>
        <a:hlink>
          <a:srgbClr val="5F5F5F"/>
        </a:hlink>
        <a:folHlink>
          <a:srgbClr val="969696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ONLYOFFICE/9.1.0.167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modified xsi:type="dcterms:W3CDTF">2025-11-07T14:53:20Z</dcterms:modified>
</cp:coreProperties>
</file>