
<file path=[Content_Types].xml><?xml version="1.0" encoding="utf-8"?>
<Types xmlns="http://schemas.openxmlformats.org/package/2006/content-types">
  <Default Extension="jpg" ContentType="image/jpe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GB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341098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9870559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GB"/>
              <a:t>10/30/2013</a:t>
            </a:fld>
            <a:endParaRPr lang="en-GB"/>
          </a:p>
        </p:txBody>
      </p:sp>
      <p:sp>
        <p:nvSpPr>
          <p:cNvPr id="7367952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GB"/>
          </a:p>
        </p:txBody>
      </p:sp>
      <p:sp>
        <p:nvSpPr>
          <p:cNvPr id="11376623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GB"/>
          </a:p>
        </p:txBody>
      </p:sp>
      <p:sp>
        <p:nvSpPr>
          <p:cNvPr id="91377271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82031009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587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19747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GB">
              <a:latin typeface="Arial"/>
              <a:cs typeface="Arial"/>
            </a:endParaRPr>
          </a:p>
        </p:txBody>
      </p:sp>
      <p:sp>
        <p:nvSpPr>
          <p:cNvPr id="1075580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GB"/>
              <a:t>1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476CE74-0BE8-4483-F1AD-4874E2E2003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1160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4065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1794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CD462F-A9AA-7244-091E-20F5D067B88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10757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42588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382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871F66-C8EC-1198-2D95-89AFB2F39AB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E7925E7-0FC2-7C4A-A39C-2FDE344BC21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13522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57497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6180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43522B-8903-C97D-3C84-CD3DFC5FF9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7570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77647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28252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C4F4D4-6136-486F-1954-92E054AEB0E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057716" name="Rectangle 6"/>
          <p:cNvSpPr/>
          <p:nvPr userDrawn="1"/>
        </p:nvSpPr>
        <p:spPr bwMode="auto">
          <a:xfrm flipH="1" flipV="1">
            <a:off x="5054215" y="7875"/>
            <a:ext cx="2243654" cy="6849349"/>
          </a:xfrm>
          <a:prstGeom prst="rect">
            <a:avLst/>
          </a:prstGeom>
          <a:solidFill>
            <a:srgbClr val="6E9A26">
              <a:alpha val="35000"/>
            </a:srgbClr>
          </a:solidFill>
          <a:ln>
            <a:noFill/>
          </a:ln>
        </p:spPr>
      </p:sp>
      <p:sp>
        <p:nvSpPr>
          <p:cNvPr id="1184996574" name="Rectangle 16"/>
          <p:cNvSpPr/>
          <p:nvPr userDrawn="1"/>
        </p:nvSpPr>
        <p:spPr bwMode="auto">
          <a:xfrm flipH="1" flipV="1">
            <a:off x="6667265" y="12899"/>
            <a:ext cx="410085" cy="6845099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</p:sp>
      <p:sp>
        <p:nvSpPr>
          <p:cNvPr id="283290071" name="Rectangle 18"/>
          <p:cNvSpPr/>
          <p:nvPr userDrawn="1"/>
        </p:nvSpPr>
        <p:spPr bwMode="auto">
          <a:xfrm flipH="1" flipV="1">
            <a:off x="4863529" y="7871"/>
            <a:ext cx="1052082" cy="6849349"/>
          </a:xfrm>
          <a:prstGeom prst="rect">
            <a:avLst/>
          </a:prstGeom>
          <a:solidFill>
            <a:schemeClr val="bg1">
              <a:alpha val="43000"/>
            </a:schemeClr>
          </a:solidFill>
          <a:ln>
            <a:noFill/>
          </a:ln>
        </p:spPr>
      </p:sp>
      <p:sp>
        <p:nvSpPr>
          <p:cNvPr id="1666835708" name="Rectangle 19"/>
          <p:cNvSpPr/>
          <p:nvPr userDrawn="1"/>
        </p:nvSpPr>
        <p:spPr bwMode="auto">
          <a:xfrm flipH="1" flipV="1">
            <a:off x="7620393" y="-6675"/>
            <a:ext cx="386031" cy="6861650"/>
          </a:xfrm>
          <a:prstGeom prst="rect">
            <a:avLst/>
          </a:prstGeom>
          <a:solidFill>
            <a:schemeClr val="bg1">
              <a:alpha val="43000"/>
            </a:schemeClr>
          </a:solidFill>
          <a:ln>
            <a:noFill/>
          </a:ln>
        </p:spPr>
      </p:sp>
      <p:sp>
        <p:nvSpPr>
          <p:cNvPr id="280831625" name="Rectangle 21"/>
          <p:cNvSpPr/>
          <p:nvPr userDrawn="1"/>
        </p:nvSpPr>
        <p:spPr bwMode="auto">
          <a:xfrm flipH="1" flipV="1">
            <a:off x="5915613" y="7866"/>
            <a:ext cx="260426" cy="6849349"/>
          </a:xfrm>
          <a:prstGeom prst="rect">
            <a:avLst/>
          </a:prstGeom>
          <a:solidFill>
            <a:schemeClr val="bg1">
              <a:alpha val="34000"/>
            </a:schemeClr>
          </a:solidFill>
          <a:ln>
            <a:noFill/>
          </a:ln>
        </p:spPr>
      </p:sp>
      <p:sp>
        <p:nvSpPr>
          <p:cNvPr id="1063259684" name="Rectangle 22"/>
          <p:cNvSpPr/>
          <p:nvPr userDrawn="1"/>
        </p:nvSpPr>
        <p:spPr bwMode="auto">
          <a:xfrm flipH="1" flipV="1">
            <a:off x="2639615" y="7871"/>
            <a:ext cx="1053141" cy="6849349"/>
          </a:xfrm>
          <a:prstGeom prst="rect">
            <a:avLst/>
          </a:prstGeom>
          <a:solidFill>
            <a:srgbClr val="6E9A26">
              <a:alpha val="41000"/>
            </a:srgbClr>
          </a:solidFill>
          <a:ln>
            <a:noFill/>
          </a:ln>
        </p:spPr>
      </p:sp>
      <p:sp>
        <p:nvSpPr>
          <p:cNvPr id="1848547261" name="Rectangle 24"/>
          <p:cNvSpPr/>
          <p:nvPr userDrawn="1"/>
        </p:nvSpPr>
        <p:spPr bwMode="auto">
          <a:xfrm flipH="1" flipV="1">
            <a:off x="8392459" y="7875"/>
            <a:ext cx="1447954" cy="6849349"/>
          </a:xfrm>
          <a:prstGeom prst="rect">
            <a:avLst/>
          </a:prstGeom>
          <a:solidFill>
            <a:schemeClr val="bg1">
              <a:alpha val="26000"/>
            </a:schemeClr>
          </a:solidFill>
          <a:ln>
            <a:noFill/>
          </a:ln>
        </p:spPr>
      </p:sp>
      <p:sp>
        <p:nvSpPr>
          <p:cNvPr id="518429784" name="Rectangle 26"/>
          <p:cNvSpPr/>
          <p:nvPr userDrawn="1"/>
        </p:nvSpPr>
        <p:spPr bwMode="auto">
          <a:xfrm flipH="1" flipV="1">
            <a:off x="8440069" y="7875"/>
            <a:ext cx="390538" cy="6849349"/>
          </a:xfrm>
          <a:prstGeom prst="rect">
            <a:avLst/>
          </a:prstGeom>
          <a:solidFill>
            <a:schemeClr val="bg1">
              <a:alpha val="56000"/>
            </a:schemeClr>
          </a:solidFill>
          <a:ln>
            <a:noFill/>
          </a:ln>
        </p:spPr>
      </p:sp>
      <p:sp>
        <p:nvSpPr>
          <p:cNvPr id="761157414" name="Rectangle 27"/>
          <p:cNvSpPr/>
          <p:nvPr userDrawn="1"/>
        </p:nvSpPr>
        <p:spPr bwMode="auto">
          <a:xfrm flipH="1" flipV="1">
            <a:off x="4863530" y="7871"/>
            <a:ext cx="381367" cy="6849349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</p:sp>
      <p:sp>
        <p:nvSpPr>
          <p:cNvPr id="1982857487" name="Rectangle 28"/>
          <p:cNvSpPr/>
          <p:nvPr userDrawn="1"/>
        </p:nvSpPr>
        <p:spPr bwMode="auto">
          <a:xfrm flipH="1" flipV="1">
            <a:off x="7085130" y="7873"/>
            <a:ext cx="425481" cy="6849349"/>
          </a:xfrm>
          <a:prstGeom prst="rect">
            <a:avLst/>
          </a:prstGeom>
          <a:solidFill>
            <a:schemeClr val="bg1">
              <a:alpha val="44000"/>
            </a:schemeClr>
          </a:solidFill>
          <a:ln>
            <a:noFill/>
          </a:ln>
        </p:spPr>
      </p:sp>
      <p:sp>
        <p:nvSpPr>
          <p:cNvPr id="706525519" name="Rectangle 25"/>
          <p:cNvSpPr/>
          <p:nvPr userDrawn="1"/>
        </p:nvSpPr>
        <p:spPr bwMode="auto">
          <a:xfrm flipH="1" flipV="1">
            <a:off x="3236819" y="-6675"/>
            <a:ext cx="704949" cy="6861650"/>
          </a:xfrm>
          <a:prstGeom prst="rect">
            <a:avLst/>
          </a:prstGeom>
          <a:solidFill>
            <a:schemeClr val="bg1">
              <a:alpha val="49000"/>
            </a:schemeClr>
          </a:solidFill>
          <a:ln>
            <a:noFill/>
          </a:ln>
        </p:spPr>
      </p:sp>
      <p:sp>
        <p:nvSpPr>
          <p:cNvPr id="1172031912" name="Rectangle 20"/>
          <p:cNvSpPr/>
          <p:nvPr userDrawn="1"/>
        </p:nvSpPr>
        <p:spPr bwMode="auto">
          <a:xfrm flipH="1" flipV="1">
            <a:off x="4192885" y="7875"/>
            <a:ext cx="567910" cy="6849349"/>
          </a:xfrm>
          <a:prstGeom prst="rect">
            <a:avLst/>
          </a:prstGeom>
          <a:solidFill>
            <a:schemeClr val="bg1">
              <a:alpha val="78000"/>
            </a:schemeClr>
          </a:solidFill>
          <a:ln>
            <a:noFill/>
          </a:ln>
        </p:spPr>
      </p:sp>
      <p:sp>
        <p:nvSpPr>
          <p:cNvPr id="1897618469" name="Rectangle 43"/>
          <p:cNvSpPr/>
          <p:nvPr userDrawn="1"/>
        </p:nvSpPr>
        <p:spPr bwMode="auto">
          <a:xfrm flipH="1" flipV="1">
            <a:off x="9363825" y="7873"/>
            <a:ext cx="307005" cy="6849349"/>
          </a:xfrm>
          <a:prstGeom prst="rect">
            <a:avLst/>
          </a:prstGeom>
          <a:solidFill>
            <a:schemeClr val="bg1">
              <a:alpha val="58999"/>
            </a:schemeClr>
          </a:solidFill>
          <a:ln>
            <a:noFill/>
          </a:ln>
        </p:spPr>
      </p:sp>
      <p:sp>
        <p:nvSpPr>
          <p:cNvPr id="1702566343" name="Rectangle 45"/>
          <p:cNvSpPr/>
          <p:nvPr userDrawn="1"/>
        </p:nvSpPr>
        <p:spPr bwMode="auto">
          <a:xfrm flipH="1" flipV="1">
            <a:off x="2796586" y="7874"/>
            <a:ext cx="60958" cy="6849349"/>
          </a:xfrm>
          <a:prstGeom prst="rect">
            <a:avLst/>
          </a:prstGeom>
          <a:solidFill>
            <a:schemeClr val="bg1">
              <a:alpha val="78000"/>
            </a:schemeClr>
          </a:solidFill>
          <a:ln>
            <a:noFill/>
          </a:ln>
        </p:spPr>
      </p:sp>
      <p:sp>
        <p:nvSpPr>
          <p:cNvPr id="1804927013" name="Rectangle 44"/>
          <p:cNvSpPr/>
          <p:nvPr userDrawn="1"/>
        </p:nvSpPr>
        <p:spPr bwMode="auto">
          <a:xfrm>
            <a:off x="2447594" y="1844823"/>
            <a:ext cx="7776864" cy="3672407"/>
          </a:xfrm>
          <a:prstGeom prst="rect">
            <a:avLst/>
          </a:prstGeom>
          <a:solidFill>
            <a:schemeClr val="bg1"/>
          </a:solidFill>
          <a:ln w="57150" cap="rnd" cmpd="sng">
            <a:noFill/>
            <a:prstDash val="sysDot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sp>
      <p:sp>
        <p:nvSpPr>
          <p:cNvPr id="476926056" name="Subtitle 2"/>
          <p:cNvSpPr>
            <a:spLocks noGrp="1"/>
          </p:cNvSpPr>
          <p:nvPr>
            <p:ph type="subTitle" idx="1"/>
          </p:nvPr>
        </p:nvSpPr>
        <p:spPr bwMode="auto">
          <a:xfrm>
            <a:off x="3166186" y="4077071"/>
            <a:ext cx="6197638" cy="1152127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 cap="none" spc="119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576214952" name="Title 9"/>
          <p:cNvSpPr>
            <a:spLocks noGrp="1"/>
          </p:cNvSpPr>
          <p:nvPr>
            <p:ph type="title"/>
          </p:nvPr>
        </p:nvSpPr>
        <p:spPr bwMode="auto">
          <a:xfrm>
            <a:off x="3181594" y="2204863"/>
            <a:ext cx="6182230" cy="1584175"/>
          </a:xfrm>
        </p:spPr>
        <p:txBody>
          <a:bodyPr>
            <a:normAutofit/>
          </a:bodyPr>
          <a:lstStyle>
            <a:lvl1pPr algn="ctr">
              <a:defRPr sz="4000" cap="small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cxnSp>
        <p:nvCxnSpPr>
          <p:cNvPr id="1093546447" name="Прямая соединительная линия 48"/>
          <p:cNvCxnSpPr/>
          <p:nvPr userDrawn="1"/>
        </p:nvCxnSpPr>
        <p:spPr bwMode="auto">
          <a:xfrm>
            <a:off x="3166186" y="3933055"/>
            <a:ext cx="2879640" cy="0"/>
          </a:xfrm>
          <a:prstGeom prst="line">
            <a:avLst/>
          </a:prstGeom>
          <a:ln w="9525" cap="flat" cmpd="sng" algn="ctr">
            <a:solidFill>
              <a:srgbClr val="6E9A26"/>
            </a:solidFill>
            <a:prstDash val="sys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323342" name="Овал 50"/>
          <p:cNvSpPr/>
          <p:nvPr userDrawn="1"/>
        </p:nvSpPr>
        <p:spPr bwMode="auto">
          <a:xfrm>
            <a:off x="6172819" y="3896087"/>
            <a:ext cx="96010" cy="72009"/>
          </a:xfrm>
          <a:prstGeom prst="ellipse">
            <a:avLst/>
          </a:prstGeom>
          <a:solidFill>
            <a:srgbClr val="6E9A26"/>
          </a:solidFill>
          <a:ln>
            <a:noFill/>
          </a:ln>
          <a:effectLst/>
        </p:spPr>
      </p:sp>
      <p:cxnSp>
        <p:nvCxnSpPr>
          <p:cNvPr id="1645691498" name="Прямая соединительная линия 53"/>
          <p:cNvCxnSpPr/>
          <p:nvPr userDrawn="1"/>
        </p:nvCxnSpPr>
        <p:spPr bwMode="auto">
          <a:xfrm>
            <a:off x="6384031" y="3932091"/>
            <a:ext cx="3005061" cy="1"/>
          </a:xfrm>
          <a:prstGeom prst="line">
            <a:avLst/>
          </a:prstGeom>
          <a:ln w="9525" cap="flat" cmpd="sng" algn="ctr">
            <a:solidFill>
              <a:srgbClr val="6E9A26"/>
            </a:solidFill>
            <a:prstDash val="sys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373706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55684509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60003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35350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9949405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8983918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195527086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55846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378697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1196751"/>
            <a:ext cx="10363199" cy="4896543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79698642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15090742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33997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  <p:sp>
        <p:nvSpPr>
          <p:cNvPr id="1597131526" name="Title 1"/>
          <p:cNvSpPr>
            <a:spLocks noGrp="1"/>
          </p:cNvSpPr>
          <p:nvPr>
            <p:ph type="title"/>
          </p:nvPr>
        </p:nvSpPr>
        <p:spPr bwMode="auto">
          <a:xfrm>
            <a:off x="719402" y="188640"/>
            <a:ext cx="10753194" cy="864095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02811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0836704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196753"/>
            <a:ext cx="5384799" cy="4929410"/>
          </a:xfrm>
          <a:prstGeom prst="rect">
            <a:avLst/>
          </a:prstGeom>
          <a:noFill/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7312344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196753"/>
            <a:ext cx="5384799" cy="4929410"/>
          </a:xfrm>
          <a:prstGeom prst="rect">
            <a:avLst/>
          </a:prstGeom>
          <a:noFill/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9626900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13636941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854601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74015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7578446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268759"/>
            <a:ext cx="5386917" cy="639762"/>
          </a:xfrm>
          <a:prstGeom prst="rect">
            <a:avLst/>
          </a:prstGeom>
          <a:noFill/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61969041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060849"/>
            <a:ext cx="5386917" cy="4065314"/>
          </a:xfrm>
          <a:prstGeom prst="rect">
            <a:avLst/>
          </a:prstGeom>
          <a:noFill/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7976354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68" y="1268759"/>
            <a:ext cx="5389033" cy="639762"/>
          </a:xfrm>
          <a:prstGeom prst="rect">
            <a:avLst/>
          </a:prstGeom>
          <a:noFill/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02262857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68" y="2060849"/>
            <a:ext cx="5389033" cy="4065314"/>
          </a:xfrm>
          <a:prstGeom prst="rect">
            <a:avLst/>
          </a:prstGeom>
          <a:noFill/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959214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214541401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42210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06321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3427905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21861950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1178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27446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1343603538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47101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3609054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1196753"/>
            <a:ext cx="6815666" cy="4929410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225336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1" y="1196751"/>
            <a:ext cx="4011084" cy="4929411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10018231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89345142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41279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  <p:sp>
        <p:nvSpPr>
          <p:cNvPr id="739744847" name="Title 1"/>
          <p:cNvSpPr>
            <a:spLocks noGrp="1"/>
          </p:cNvSpPr>
          <p:nvPr>
            <p:ph type="title"/>
          </p:nvPr>
        </p:nvSpPr>
        <p:spPr bwMode="auto">
          <a:xfrm>
            <a:off x="719402" y="188640"/>
            <a:ext cx="10753194" cy="864095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058877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1196751"/>
            <a:ext cx="7315200" cy="345638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126674177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4869159"/>
            <a:ext cx="7315200" cy="130303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8510386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113283770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505237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  <p:sp>
        <p:nvSpPr>
          <p:cNvPr id="891632371" name="Title 1"/>
          <p:cNvSpPr>
            <a:spLocks noGrp="1"/>
          </p:cNvSpPr>
          <p:nvPr>
            <p:ph type="title"/>
          </p:nvPr>
        </p:nvSpPr>
        <p:spPr bwMode="auto">
          <a:xfrm>
            <a:off x="719402" y="188640"/>
            <a:ext cx="10753194" cy="864095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7169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1300809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4630318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19346859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019813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674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8"/>
            <a:ext cx="2743200" cy="5851525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1385377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8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1720341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137068088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41847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1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820135" name="Title Placeholder 1"/>
          <p:cNvSpPr>
            <a:spLocks noGrp="1"/>
          </p:cNvSpPr>
          <p:nvPr>
            <p:ph type="title"/>
          </p:nvPr>
        </p:nvSpPr>
        <p:spPr bwMode="auto">
          <a:xfrm>
            <a:off x="719402" y="188640"/>
            <a:ext cx="10753194" cy="86409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>
              <a:defRPr/>
            </a:pPr>
            <a:endParaRPr/>
          </a:p>
        </p:txBody>
      </p:sp>
      <p:sp>
        <p:nvSpPr>
          <p:cNvPr id="6887243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19402" y="1340767"/>
            <a:ext cx="10753194" cy="4968551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0700919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19402" y="6442061"/>
            <a:ext cx="2844799" cy="365125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51E84241-D031-42DE-84E4-CC10C30232F4}" type="datetimeFigureOut">
              <a:rPr/>
              <a:t>22.10.2013</a:t>
            </a:fld>
            <a:endParaRPr/>
          </a:p>
        </p:txBody>
      </p:sp>
      <p:sp>
        <p:nvSpPr>
          <p:cNvPr id="19559029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7920202" y="6416499"/>
            <a:ext cx="3860799" cy="365125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55321635" name="Slide Number Placeholder 8"/>
          <p:cNvSpPr>
            <a:spLocks noGrp="1"/>
          </p:cNvSpPr>
          <p:nvPr>
            <p:ph type="sldNum" sz="quarter" idx="4"/>
          </p:nvPr>
        </p:nvSpPr>
        <p:spPr bwMode="auto">
          <a:xfrm>
            <a:off x="5511799" y="6453335"/>
            <a:ext cx="1168399" cy="292099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lvl1pPr algn="ctr" defTabSz="914400" rtl="0">
        <a:spcBef>
          <a:spcPts val="399"/>
        </a:spcBef>
        <a:buNone/>
        <a:defRPr sz="3600" b="0" cap="none" spc="0">
          <a:solidFill>
            <a:schemeClr val="bg1"/>
          </a:solidFill>
          <a:latin typeface="+mj-lt"/>
          <a:ea typeface="+mj-ea"/>
          <a:cs typeface="Arial"/>
        </a:defRPr>
      </a:lvl1pPr>
    </p:titleStyle>
    <p:bodyStyle>
      <a:lvl1pPr marL="342900" indent="-342900" algn="l" defTabSz="914400" rtl="0">
        <a:spcBef>
          <a:spcPts val="599"/>
        </a:spcBef>
        <a:spcAft>
          <a:spcPts val="0"/>
        </a:spcAft>
        <a:buClr>
          <a:schemeClr val="accent1"/>
        </a:buClr>
        <a:buFont typeface="Arial"/>
        <a:buChar char="•"/>
        <a:defRPr sz="2200" b="0" i="0" cap="none" spc="29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Arial"/>
        </a:defRPr>
      </a:lvl1pPr>
      <a:lvl2pPr marL="513651" indent="-342900" algn="l" defTabSz="914400" rtl="0">
        <a:spcBef>
          <a:spcPts val="599"/>
        </a:spcBef>
        <a:buClr>
          <a:schemeClr val="accent1"/>
        </a:buClr>
        <a:buFont typeface="Times New Roman"/>
        <a:buChar char="–"/>
        <a:defRPr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Arial"/>
        </a:defRPr>
      </a:lvl2pPr>
      <a:lvl3pPr marL="627951" indent="-285750" algn="l" defTabSz="914400" rtl="0">
        <a:spcBef>
          <a:spcPts val="599"/>
        </a:spcBef>
        <a:buClr>
          <a:schemeClr val="accent1"/>
        </a:buClr>
        <a:buFont typeface="Arial"/>
        <a:buChar char="•"/>
        <a:defRPr sz="18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Arial"/>
        </a:defRPr>
      </a:lvl3pPr>
      <a:lvl4pPr marL="800988" indent="-285750" algn="l" defTabSz="914400" rtl="0">
        <a:spcBef>
          <a:spcPts val="599"/>
        </a:spcBef>
        <a:buClr>
          <a:schemeClr val="accent1"/>
        </a:buClr>
        <a:buFont typeface="Times New Roman"/>
        <a:buChar char="–"/>
        <a:defRPr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Arial"/>
        </a:defRPr>
      </a:lvl4pPr>
      <a:lvl5pPr marL="972438" indent="-285750" algn="l" defTabSz="914400" rtl="0">
        <a:spcBef>
          <a:spcPts val="599"/>
        </a:spcBef>
        <a:buClr>
          <a:schemeClr val="accent1"/>
        </a:buClr>
        <a:buFont typeface="Times New Roman"/>
        <a:buChar char="»"/>
        <a:defRPr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Arial"/>
        </a:defRPr>
      </a:lvl5pPr>
      <a:lvl6pPr marL="1051560" indent="-173735" algn="l" defTabSz="914400" rtl="0">
        <a:spcBef>
          <a:spcPts val="0"/>
        </a:spcBef>
        <a:buClr>
          <a:schemeClr val="accent1"/>
        </a:buClr>
        <a:buFont typeface="Arial"/>
        <a:buChar char="•"/>
        <a:defRPr sz="1400">
          <a:solidFill>
            <a:schemeClr val="tx2"/>
          </a:solidFill>
          <a:latin typeface="+mn-lt"/>
          <a:ea typeface="+mn-ea"/>
          <a:cs typeface="+mn-cs"/>
        </a:defRPr>
      </a:lvl6pPr>
      <a:lvl7pPr marL="1234440" indent="-173735" algn="l" defTabSz="914400" rtl="0">
        <a:spcBef>
          <a:spcPts val="0"/>
        </a:spcBef>
        <a:buClr>
          <a:schemeClr val="accent1"/>
        </a:buClr>
        <a:buFont typeface="Arial"/>
        <a:buChar char="•"/>
        <a:defRPr sz="1400">
          <a:solidFill>
            <a:schemeClr val="tx2"/>
          </a:solidFill>
          <a:latin typeface="+mn-lt"/>
          <a:ea typeface="+mn-ea"/>
          <a:cs typeface="+mn-cs"/>
        </a:defRPr>
      </a:lvl7pPr>
      <a:lvl8pPr marL="1417319" indent="-173735" algn="l" defTabSz="914400" rtl="0">
        <a:spcBef>
          <a:spcPts val="0"/>
        </a:spcBef>
        <a:buClr>
          <a:schemeClr val="accent1"/>
        </a:buClr>
        <a:buFont typeface="Arial"/>
        <a:buChar char="•"/>
        <a:defRPr sz="1400">
          <a:solidFill>
            <a:schemeClr val="tx2"/>
          </a:solidFill>
          <a:latin typeface="+mn-lt"/>
          <a:ea typeface="+mn-ea"/>
          <a:cs typeface="+mn-cs"/>
        </a:defRPr>
      </a:lvl8pPr>
      <a:lvl9pPr marL="1600200" indent="-173735" algn="l" defTabSz="914400" rtl="0">
        <a:spcBef>
          <a:spcPts val="0"/>
        </a:spcBef>
        <a:buClr>
          <a:schemeClr val="accent1"/>
        </a:buClr>
        <a:buFont typeface="Arial"/>
        <a:buChar char="•"/>
        <a:defRPr sz="14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7913379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Assessment 3</a:t>
            </a:r>
            <a:endParaRPr lang="en-GB"/>
          </a:p>
        </p:txBody>
      </p:sp>
      <p:sp>
        <p:nvSpPr>
          <p:cNvPr id="2054226939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GB">
                <a:latin typeface="Aptos"/>
                <a:ea typeface="Aptos"/>
                <a:cs typeface="Aptos"/>
              </a:rPr>
              <a:t>Lauren </a:t>
            </a:r>
            <a:r>
              <a:rPr lang="en-GB">
                <a:latin typeface="Aptos"/>
                <a:ea typeface="Aptos"/>
                <a:cs typeface="Aptos"/>
              </a:rPr>
              <a:t>Keenan</a:t>
            </a:r>
            <a:endParaRPr lang="en-GB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296172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latin typeface="Arial"/>
                <a:ea typeface="Arial"/>
                <a:cs typeface="Arial"/>
              </a:rPr>
              <a:t>Student 1</a:t>
            </a:r>
            <a:endParaRPr>
              <a:latin typeface="Arial"/>
              <a:cs typeface="Arial"/>
            </a:endParaRPr>
          </a:p>
        </p:txBody>
      </p:sp>
      <p:sp>
        <p:nvSpPr>
          <p:cNvPr id="101232665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196753"/>
            <a:ext cx="5384799" cy="492941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Preferences</a:t>
            </a: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:</a:t>
            </a: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Studious, eager to teach</a:t>
            </a: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Wants to break things down to really understand</a:t>
            </a: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Motivators:</a:t>
            </a: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Learning/building</a:t>
            </a: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Skill-sharing</a:t>
            </a:r>
            <a:endParaRPr sz="2800">
              <a:latin typeface="Arial"/>
              <a:cs typeface="Arial"/>
            </a:endParaRPr>
          </a:p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endParaRPr>
              <a:latin typeface="Arial"/>
              <a:cs typeface="Arial"/>
            </a:endParaRPr>
          </a:p>
        </p:txBody>
      </p:sp>
      <p:sp>
        <p:nvSpPr>
          <p:cNvPr id="139973936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196753"/>
            <a:ext cx="5384799" cy="4929410"/>
          </a:xfrm>
          <a:prstGeom prst="rect">
            <a:avLst/>
          </a:prstGeom>
          <a:noFill/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Strengths: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Driven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Consistent &amp; reliable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Versatile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Limitations: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Get caught on over-explaining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Communication confusing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52604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latin typeface="Arial"/>
                <a:ea typeface="Arial"/>
                <a:cs typeface="Arial"/>
              </a:rPr>
              <a:t>Student 2</a:t>
            </a:r>
            <a:endParaRPr>
              <a:latin typeface="Arial"/>
              <a:cs typeface="Arial"/>
            </a:endParaRPr>
          </a:p>
        </p:txBody>
      </p:sp>
      <p:sp>
        <p:nvSpPr>
          <p:cNvPr id="119889461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196752"/>
            <a:ext cx="5384800" cy="492940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Preferences</a:t>
            </a: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:</a:t>
            </a: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Clarity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ea typeface="Aptos"/>
              <a:cs typeface="Aptos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Wants to contribute feasibly</a:t>
            </a: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Motivators:</a:t>
            </a: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cs typeface="Aptos"/>
              </a:rPr>
              <a:t>Wants to contribute meaningfully</a:t>
            </a: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>
                <a:latin typeface="Arial"/>
                <a:cs typeface="Arial"/>
              </a:rPr>
              <a:t>Wants to learn, by doing and by observing</a:t>
            </a:r>
            <a:endParaRPr sz="2800">
              <a:latin typeface="Arial"/>
              <a:cs typeface="Arial"/>
            </a:endParaRPr>
          </a:p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endParaRPr>
              <a:latin typeface="Arial"/>
              <a:cs typeface="Arial"/>
            </a:endParaRPr>
          </a:p>
        </p:txBody>
      </p:sp>
      <p:sp>
        <p:nvSpPr>
          <p:cNvPr id="167182183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196752"/>
            <a:ext cx="5384800" cy="4929409"/>
          </a:xfrm>
          <a:prstGeom prst="rect">
            <a:avLst/>
          </a:prstGeom>
          <a:noFill/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Strengths: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Open attitude, grounded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Consistent &amp; reliable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Honest &amp; consistent communication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Limitations: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Confidence 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Experience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82034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latin typeface="Arial"/>
                <a:ea typeface="Arial"/>
                <a:cs typeface="Arial"/>
              </a:rPr>
              <a:t>Student 3</a:t>
            </a:r>
            <a:endParaRPr>
              <a:latin typeface="Arial"/>
              <a:cs typeface="Arial"/>
            </a:endParaRPr>
          </a:p>
        </p:txBody>
      </p:sp>
      <p:sp>
        <p:nvSpPr>
          <p:cNvPr id="204755989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196752"/>
            <a:ext cx="5384800" cy="492940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Preferences</a:t>
            </a: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:</a:t>
            </a: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Studious, theoretical</a:t>
            </a: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Prefers smaller teams</a:t>
            </a: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Motivators:</a:t>
            </a: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Learning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ea typeface="Aptos"/>
              <a:cs typeface="Aptos"/>
            </a:endParaRPr>
          </a:p>
          <a:p>
            <a:pPr>
              <a:defRPr/>
            </a:pPr>
            <a:r>
              <a:rPr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cs typeface="Aptos"/>
              </a:rPr>
              <a:t>Solution-oriented</a:t>
            </a:r>
            <a:endParaRPr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High-degree</a:t>
            </a:r>
            <a:endParaRPr sz="2800">
              <a:latin typeface="Arial"/>
              <a:cs typeface="Arial"/>
            </a:endParaRPr>
          </a:p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endParaRPr>
              <a:latin typeface="Arial"/>
              <a:cs typeface="Arial"/>
            </a:endParaRPr>
          </a:p>
        </p:txBody>
      </p:sp>
      <p:sp>
        <p:nvSpPr>
          <p:cNvPr id="46334796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196752"/>
            <a:ext cx="5384800" cy="492940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Strengths: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Intelligent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Driven if interested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Great valuable input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 marL="0" indent="0">
              <a:buClr>
                <a:schemeClr val="accent1"/>
              </a:buClr>
              <a:buFont typeface="Arial"/>
              <a:buNone/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Limitations: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Communicating blockers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ea typeface="Aptos"/>
              <a:cs typeface="Aptos"/>
            </a:endParaRPr>
          </a:p>
          <a:p>
            <a:pPr>
              <a:defRPr/>
            </a:pPr>
            <a:r>
              <a:rPr lang="en-GB" sz="2800" b="0" i="0" u="none" strike="noStrike" cap="none" spc="29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Reliability</a:t>
            </a: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Aptos"/>
              <a:ea typeface="Aptos"/>
              <a:cs typeface="Aptos"/>
            </a:endParaRPr>
          </a:p>
          <a:p>
            <a:pPr>
              <a:defRPr/>
            </a:pP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GB" sz="2800" b="0" i="0" u="none" strike="noStrike" cap="none" spc="29">
              <a:solidFill>
                <a:schemeClr val="tx1">
                  <a:lumMod val="85000"/>
                  <a:lumOff val="15000"/>
                </a:schemeClr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19786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Why it’s useful for teamwork</a:t>
            </a:r>
            <a:endParaRPr/>
          </a:p>
        </p:txBody>
      </p:sp>
      <p:sp>
        <p:nvSpPr>
          <p:cNvPr id="338450370" name=""/>
          <p:cNvSpPr txBox="1"/>
          <p:nvPr/>
        </p:nvSpPr>
        <p:spPr bwMode="auto">
          <a:xfrm rot="0" flipH="0" flipV="0">
            <a:off x="721046" y="1417674"/>
            <a:ext cx="11063825" cy="64925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394023" indent="-394023">
              <a:buFont typeface="Arial"/>
              <a:buChar char="•"/>
              <a:defRPr/>
            </a:pPr>
            <a:r>
              <a:rPr sz="2800">
                <a:latin typeface="Aptos"/>
                <a:ea typeface="Aptos"/>
                <a:cs typeface="Aptos"/>
              </a:rPr>
              <a:t>Understand teammates, how they fit together</a:t>
            </a:r>
            <a:endParaRPr sz="2800">
              <a:latin typeface="Aptos"/>
              <a:ea typeface="Aptos"/>
              <a:cs typeface="Aptos"/>
            </a:endParaRPr>
          </a:p>
          <a:p>
            <a:pPr marL="394023" indent="-394023">
              <a:buFont typeface="Arial"/>
              <a:buChar char="•"/>
              <a:defRPr/>
            </a:pPr>
            <a:r>
              <a:rPr sz="2800">
                <a:latin typeface="Aptos"/>
                <a:ea typeface="Aptos"/>
                <a:cs typeface="Aptos"/>
              </a:rPr>
              <a:t>How to work concurrently to maximise progress</a:t>
            </a:r>
            <a:endParaRPr sz="2800">
              <a:latin typeface="Aptos"/>
              <a:ea typeface="Aptos"/>
              <a:cs typeface="Aptos"/>
            </a:endParaRPr>
          </a:p>
          <a:p>
            <a:pPr marL="394023" indent="-394023">
              <a:buFont typeface="Arial"/>
              <a:buChar char="•"/>
              <a:defRPr/>
            </a:pPr>
            <a:endParaRPr sz="2800">
              <a:latin typeface="Aptos"/>
              <a:ea typeface="Aptos"/>
              <a:cs typeface="Aptos"/>
            </a:endParaRPr>
          </a:p>
          <a:p>
            <a:pPr marL="394023" indent="-394023">
              <a:buFont typeface="Arial"/>
              <a:buChar char="•"/>
              <a:defRPr/>
            </a:pPr>
            <a:endParaRPr sz="2800">
              <a:latin typeface="Aptos"/>
              <a:ea typeface="Aptos"/>
              <a:cs typeface="Aptos"/>
            </a:endParaRPr>
          </a:p>
          <a:p>
            <a:pPr marL="394023" indent="-394023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3" indent="-394023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3" indent="-394023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3" indent="-394023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3" indent="-394023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3" indent="-394023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3" indent="-394023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3" indent="-394023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3" indent="-394023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3" indent="-394023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>
              <a:defRPr/>
            </a:pPr>
            <a:endParaRPr sz="2800">
              <a:latin typeface="Aptos"/>
              <a:cs typeface="Aptos"/>
            </a:endParaRPr>
          </a:p>
        </p:txBody>
      </p:sp>
      <p:pic>
        <p:nvPicPr>
          <p:cNvPr id="207632654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641802" y="2334429"/>
            <a:ext cx="7354491" cy="42961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07704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How to motivate</a:t>
            </a:r>
            <a:endParaRPr/>
          </a:p>
        </p:txBody>
      </p:sp>
      <p:sp>
        <p:nvSpPr>
          <p:cNvPr id="228155122" name=""/>
          <p:cNvSpPr txBox="1"/>
          <p:nvPr/>
        </p:nvSpPr>
        <p:spPr bwMode="auto">
          <a:xfrm rot="0" flipH="0" flipV="0">
            <a:off x="721045" y="1329069"/>
            <a:ext cx="11136184" cy="6919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394022" indent="-394022">
              <a:buFont typeface="Arial"/>
              <a:buChar char="•"/>
              <a:defRPr/>
            </a:pPr>
            <a:r>
              <a:rPr sz="2800">
                <a:latin typeface="Aptos"/>
                <a:ea typeface="Aptos"/>
                <a:cs typeface="Aptos"/>
              </a:rPr>
              <a:t>Understand preferences, motivations, strengths</a:t>
            </a:r>
            <a:endParaRPr sz="2800">
              <a:latin typeface="Aptos"/>
              <a:ea typeface="Aptos"/>
              <a:cs typeface="Aptos"/>
            </a:endParaRPr>
          </a:p>
          <a:p>
            <a:pPr marL="394022" indent="-394022">
              <a:buFont typeface="Arial"/>
              <a:buChar char="•"/>
              <a:defRPr/>
            </a:pPr>
            <a:r>
              <a:rPr sz="2800">
                <a:latin typeface="Aptos"/>
                <a:ea typeface="Aptos"/>
                <a:cs typeface="Aptos"/>
              </a:rPr>
              <a:t>Identify opportunities and present them</a:t>
            </a:r>
            <a:endParaRPr sz="2800">
              <a:latin typeface="Aptos"/>
              <a:ea typeface="Aptos"/>
              <a:cs typeface="Aptos"/>
            </a:endParaRPr>
          </a:p>
          <a:p>
            <a:pPr marL="394022" indent="-394022">
              <a:buFont typeface="Arial"/>
              <a:buChar char="•"/>
              <a:defRPr/>
            </a:pPr>
            <a:r>
              <a:rPr sz="2800">
                <a:latin typeface="Aptos"/>
                <a:ea typeface="Aptos"/>
                <a:cs typeface="Aptos"/>
              </a:rPr>
              <a:t>Encouraging ownership</a:t>
            </a:r>
            <a:endParaRPr sz="2800">
              <a:latin typeface="Aptos"/>
              <a:ea typeface="Aptos"/>
              <a:cs typeface="Aptos"/>
            </a:endParaRPr>
          </a:p>
          <a:p>
            <a:pPr marL="394022" indent="-394022">
              <a:buFont typeface="Arial"/>
              <a:buChar char="•"/>
              <a:defRPr/>
            </a:pPr>
            <a:endParaRPr sz="2800">
              <a:latin typeface="Aptos"/>
              <a:ea typeface="Aptos"/>
              <a:cs typeface="Aptos"/>
            </a:endParaRPr>
          </a:p>
          <a:p>
            <a:pPr marL="394022" indent="-394022">
              <a:buFont typeface="Arial"/>
              <a:buChar char="•"/>
              <a:defRPr/>
            </a:pPr>
            <a:endParaRPr sz="2800">
              <a:latin typeface="Aptos"/>
              <a:ea typeface="Aptos"/>
              <a:cs typeface="Aptos"/>
            </a:endParaRPr>
          </a:p>
          <a:p>
            <a:pPr marL="394022" indent="-394022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2" indent="-394022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2" indent="-394022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2" indent="-394022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2" indent="-394022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2" indent="-394022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2" indent="-394022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2" indent="-394022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2" indent="-394022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 marL="394022" indent="-394022">
              <a:buFont typeface="Arial"/>
              <a:buChar char="–"/>
              <a:defRPr/>
            </a:pPr>
            <a:endParaRPr sz="2800">
              <a:latin typeface="Aptos"/>
              <a:cs typeface="Aptos"/>
            </a:endParaRPr>
          </a:p>
          <a:p>
            <a:pPr>
              <a:defRPr/>
            </a:pPr>
            <a:endParaRPr sz="2800">
              <a:latin typeface="Aptos"/>
              <a:cs typeface="Apto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178432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90562" y="309562"/>
            <a:ext cx="10810874" cy="62388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Relationship Id="rId1" Type="http://schemas.openxmlformats.org/officeDocument/2006/relationships/image" Target="../media/image1.jpg"/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Green leaf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Classic">
      <a:majorFont>
        <a:latin typeface="Arial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SOHO">
      <a:fillStyleLst>
        <a:solidFill>
          <a:schemeClr val="phClr"/>
        </a:solidFill>
        <a:gradFill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>
          <a:gsLst>
            <a:gs pos="0">
              <a:schemeClr val="phClr">
                <a:shade val="67000"/>
                <a:satMod val="150000"/>
              </a:schemeClr>
            </a:gs>
            <a:gs pos="30000">
              <a:schemeClr val="phClr">
                <a:shade val="94000"/>
                <a:satMod val="130000"/>
              </a:schemeClr>
            </a:gs>
            <a:gs pos="45000">
              <a:schemeClr val="phClr">
                <a:shade val="100000"/>
                <a:satMod val="120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4000"/>
                <a:satMod val="130000"/>
              </a:schemeClr>
            </a:gs>
            <a:gs pos="100000">
              <a:schemeClr val="phClr">
                <a:shade val="67000"/>
                <a:satMod val="150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2700000" algn="br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38100" dir="2700000" algn="br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38100" dir="2700000" algn="br" rotWithShape="0">
              <a:srgbClr val="000000">
                <a:alpha val="4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2700000"/>
            </a:lightRig>
          </a:scene3d>
          <a:sp3d contourW="19050">
            <a:bevelT w="31750" h="38100"/>
            <a:contourClr>
              <a:schemeClr val="phClr">
                <a:shade val="15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64000"/>
                <a:satMod val="210000"/>
              </a:schemeClr>
            </a:gs>
            <a:gs pos="40000">
              <a:schemeClr val="phClr">
                <a:tint val="72000"/>
                <a:shade val="99000"/>
                <a:satMod val="200000"/>
              </a:schemeClr>
            </a:gs>
            <a:gs pos="100000">
              <a:schemeClr val="phClr">
                <a:tint val="100000"/>
                <a:shade val="30000"/>
                <a:alpha val="100000"/>
                <a:satMod val="175000"/>
                <a:lumMod val="100000"/>
              </a:schemeClr>
            </a:gs>
          </a:gsLst>
          <a:path path="circle"/>
        </a:gradFill>
        <a:blipFill rotWithShape="1">
          <a:blip r:embed="rId1">
            <a:duotone>
              <a:schemeClr val="phClr">
                <a:tint val="86000"/>
                <a:alpha val="90000"/>
              </a:schemeClr>
              <a:schemeClr val="phClr">
                <a:shade val="49000"/>
                <a:satMod val="120000"/>
              </a:schemeClr>
            </a:duotone>
          </a:blip>
          <a:stretch/>
        </a:blip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2026-03-24T10:23:46Z</dcterms:modified>
</cp:coreProperties>
</file>