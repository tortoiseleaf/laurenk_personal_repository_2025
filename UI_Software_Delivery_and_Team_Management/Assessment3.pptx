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GB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06858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80916372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GB"/>
              <a:t>10/30/2013</a:t>
            </a:fld>
            <a:endParaRPr lang="en-GB"/>
          </a:p>
        </p:txBody>
      </p:sp>
      <p:sp>
        <p:nvSpPr>
          <p:cNvPr id="148399243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48673534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212026140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2558172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2461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3613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8089042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GB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045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746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1680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76CE74-0BE8-4483-F1AD-4874E2E200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2579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262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1290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CD462F-A9AA-7244-091E-20F5D067B8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0747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1805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504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871F66-C8EC-1198-2D95-89AFB2F39A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62261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7208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72628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7925E7-0FC2-7C4A-A39C-2FDE344BC2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0057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4583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068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43522B-8903-C97D-3C84-CD3DFC5FF9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2932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49238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128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C4F4D4-6136-486F-1954-92E054AEB0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163009" name="Rectangle 6"/>
          <p:cNvSpPr/>
          <p:nvPr userDrawn="1"/>
        </p:nvSpPr>
        <p:spPr bwMode="auto">
          <a:xfrm flipH="1" flipV="1">
            <a:off x="5054215" y="7875"/>
            <a:ext cx="2243654" cy="6849349"/>
          </a:xfrm>
          <a:prstGeom prst="rect">
            <a:avLst/>
          </a:prstGeom>
          <a:solidFill>
            <a:srgbClr val="6E9A26">
              <a:alpha val="35000"/>
            </a:srgbClr>
          </a:solidFill>
          <a:ln>
            <a:noFill/>
          </a:ln>
        </p:spPr>
      </p:sp>
      <p:sp>
        <p:nvSpPr>
          <p:cNvPr id="433108930" name="Rectangle 16"/>
          <p:cNvSpPr/>
          <p:nvPr userDrawn="1"/>
        </p:nvSpPr>
        <p:spPr bwMode="auto">
          <a:xfrm flipH="1" flipV="1">
            <a:off x="6667265" y="12899"/>
            <a:ext cx="410085" cy="684509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</p:sp>
      <p:sp>
        <p:nvSpPr>
          <p:cNvPr id="146263426" name="Rectangle 18"/>
          <p:cNvSpPr/>
          <p:nvPr userDrawn="1"/>
        </p:nvSpPr>
        <p:spPr bwMode="auto">
          <a:xfrm flipH="1" flipV="1">
            <a:off x="4863529" y="7871"/>
            <a:ext cx="1052082" cy="6849349"/>
          </a:xfrm>
          <a:prstGeom prst="rect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</p:sp>
      <p:sp>
        <p:nvSpPr>
          <p:cNvPr id="843526798" name="Rectangle 19"/>
          <p:cNvSpPr/>
          <p:nvPr userDrawn="1"/>
        </p:nvSpPr>
        <p:spPr bwMode="auto">
          <a:xfrm flipH="1" flipV="1">
            <a:off x="7620393" y="-6675"/>
            <a:ext cx="386031" cy="6861650"/>
          </a:xfrm>
          <a:prstGeom prst="rect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</p:sp>
      <p:sp>
        <p:nvSpPr>
          <p:cNvPr id="1869624543" name="Rectangle 21"/>
          <p:cNvSpPr/>
          <p:nvPr userDrawn="1"/>
        </p:nvSpPr>
        <p:spPr bwMode="auto">
          <a:xfrm flipH="1" flipV="1">
            <a:off x="5915613" y="7866"/>
            <a:ext cx="260426" cy="6849349"/>
          </a:xfrm>
          <a:prstGeom prst="rect">
            <a:avLst/>
          </a:prstGeom>
          <a:solidFill>
            <a:schemeClr val="bg1">
              <a:alpha val="34000"/>
            </a:schemeClr>
          </a:solidFill>
          <a:ln>
            <a:noFill/>
          </a:ln>
        </p:spPr>
      </p:sp>
      <p:sp>
        <p:nvSpPr>
          <p:cNvPr id="1756187558" name="Rectangle 22"/>
          <p:cNvSpPr/>
          <p:nvPr userDrawn="1"/>
        </p:nvSpPr>
        <p:spPr bwMode="auto">
          <a:xfrm flipH="1" flipV="1">
            <a:off x="2639615" y="7871"/>
            <a:ext cx="1053141" cy="6849349"/>
          </a:xfrm>
          <a:prstGeom prst="rect">
            <a:avLst/>
          </a:prstGeom>
          <a:solidFill>
            <a:srgbClr val="6E9A26">
              <a:alpha val="41000"/>
            </a:srgbClr>
          </a:solidFill>
          <a:ln>
            <a:noFill/>
          </a:ln>
        </p:spPr>
      </p:sp>
      <p:sp>
        <p:nvSpPr>
          <p:cNvPr id="227337156" name="Rectangle 24"/>
          <p:cNvSpPr/>
          <p:nvPr userDrawn="1"/>
        </p:nvSpPr>
        <p:spPr bwMode="auto">
          <a:xfrm flipH="1" flipV="1">
            <a:off x="8392459" y="7875"/>
            <a:ext cx="1447954" cy="6849349"/>
          </a:xfrm>
          <a:prstGeom prst="rect">
            <a:avLst/>
          </a:prstGeom>
          <a:solidFill>
            <a:schemeClr val="bg1">
              <a:alpha val="26000"/>
            </a:schemeClr>
          </a:solidFill>
          <a:ln>
            <a:noFill/>
          </a:ln>
        </p:spPr>
      </p:sp>
      <p:sp>
        <p:nvSpPr>
          <p:cNvPr id="1290464851" name="Rectangle 26"/>
          <p:cNvSpPr/>
          <p:nvPr userDrawn="1"/>
        </p:nvSpPr>
        <p:spPr bwMode="auto">
          <a:xfrm flipH="1" flipV="1">
            <a:off x="8440069" y="7875"/>
            <a:ext cx="390538" cy="6849349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noFill/>
          </a:ln>
        </p:spPr>
      </p:sp>
      <p:sp>
        <p:nvSpPr>
          <p:cNvPr id="57089950" name="Rectangle 27"/>
          <p:cNvSpPr/>
          <p:nvPr userDrawn="1"/>
        </p:nvSpPr>
        <p:spPr bwMode="auto">
          <a:xfrm flipH="1" flipV="1">
            <a:off x="4863530" y="7871"/>
            <a:ext cx="381367" cy="6849349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</p:sp>
      <p:sp>
        <p:nvSpPr>
          <p:cNvPr id="489389950" name="Rectangle 28"/>
          <p:cNvSpPr/>
          <p:nvPr userDrawn="1"/>
        </p:nvSpPr>
        <p:spPr bwMode="auto">
          <a:xfrm flipH="1" flipV="1">
            <a:off x="7085130" y="7873"/>
            <a:ext cx="425481" cy="6849349"/>
          </a:xfrm>
          <a:prstGeom prst="rect">
            <a:avLst/>
          </a:prstGeom>
          <a:solidFill>
            <a:schemeClr val="bg1">
              <a:alpha val="44000"/>
            </a:schemeClr>
          </a:solidFill>
          <a:ln>
            <a:noFill/>
          </a:ln>
        </p:spPr>
      </p:sp>
      <p:sp>
        <p:nvSpPr>
          <p:cNvPr id="557834430" name="Rectangle 25"/>
          <p:cNvSpPr/>
          <p:nvPr userDrawn="1"/>
        </p:nvSpPr>
        <p:spPr bwMode="auto">
          <a:xfrm flipH="1" flipV="1">
            <a:off x="3236819" y="-6675"/>
            <a:ext cx="704949" cy="6861650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</p:sp>
      <p:sp>
        <p:nvSpPr>
          <p:cNvPr id="965474400" name="Rectangle 20"/>
          <p:cNvSpPr/>
          <p:nvPr userDrawn="1"/>
        </p:nvSpPr>
        <p:spPr bwMode="auto">
          <a:xfrm flipH="1" flipV="1">
            <a:off x="4192885" y="7875"/>
            <a:ext cx="567910" cy="6849349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</p:sp>
      <p:sp>
        <p:nvSpPr>
          <p:cNvPr id="819130851" name="Rectangle 43"/>
          <p:cNvSpPr/>
          <p:nvPr userDrawn="1"/>
        </p:nvSpPr>
        <p:spPr bwMode="auto">
          <a:xfrm flipH="1" flipV="1">
            <a:off x="9363825" y="7873"/>
            <a:ext cx="307005" cy="6849349"/>
          </a:xfrm>
          <a:prstGeom prst="rect">
            <a:avLst/>
          </a:prstGeom>
          <a:solidFill>
            <a:schemeClr val="bg1">
              <a:alpha val="58999"/>
            </a:schemeClr>
          </a:solidFill>
          <a:ln>
            <a:noFill/>
          </a:ln>
        </p:spPr>
      </p:sp>
      <p:sp>
        <p:nvSpPr>
          <p:cNvPr id="1430667915" name="Rectangle 45"/>
          <p:cNvSpPr/>
          <p:nvPr userDrawn="1"/>
        </p:nvSpPr>
        <p:spPr bwMode="auto">
          <a:xfrm flipH="1" flipV="1">
            <a:off x="2796586" y="7874"/>
            <a:ext cx="60958" cy="6849349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</p:sp>
      <p:sp>
        <p:nvSpPr>
          <p:cNvPr id="1302459031" name="Rectangle 44"/>
          <p:cNvSpPr/>
          <p:nvPr userDrawn="1"/>
        </p:nvSpPr>
        <p:spPr bwMode="auto">
          <a:xfrm>
            <a:off x="2447594" y="1844823"/>
            <a:ext cx="7776864" cy="3672407"/>
          </a:xfrm>
          <a:prstGeom prst="rect">
            <a:avLst/>
          </a:prstGeom>
          <a:solidFill>
            <a:schemeClr val="bg1"/>
          </a:solidFill>
          <a:ln w="57150" cap="rnd" cmpd="sng">
            <a:noFill/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882435006" name="Subtitle 2"/>
          <p:cNvSpPr>
            <a:spLocks noGrp="1"/>
          </p:cNvSpPr>
          <p:nvPr>
            <p:ph type="subTitle" idx="1"/>
          </p:nvPr>
        </p:nvSpPr>
        <p:spPr bwMode="auto">
          <a:xfrm>
            <a:off x="3166186" y="4077071"/>
            <a:ext cx="6197638" cy="1152127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 cap="none" spc="119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846764203" name="Title 9"/>
          <p:cNvSpPr>
            <a:spLocks noGrp="1"/>
          </p:cNvSpPr>
          <p:nvPr>
            <p:ph type="title"/>
          </p:nvPr>
        </p:nvSpPr>
        <p:spPr bwMode="auto">
          <a:xfrm>
            <a:off x="3181594" y="2204863"/>
            <a:ext cx="6182230" cy="1584175"/>
          </a:xfrm>
        </p:spPr>
        <p:txBody>
          <a:bodyPr>
            <a:normAutofit/>
          </a:bodyPr>
          <a:lstStyle>
            <a:lvl1pPr algn="ctr">
              <a:defRPr sz="4000" cap="small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cxnSp>
        <p:nvCxnSpPr>
          <p:cNvPr id="1385603386" name="Прямая соединительная линия 48"/>
          <p:cNvCxnSpPr/>
          <p:nvPr userDrawn="1"/>
        </p:nvCxnSpPr>
        <p:spPr bwMode="auto">
          <a:xfrm>
            <a:off x="3166186" y="3933055"/>
            <a:ext cx="2879640" cy="0"/>
          </a:xfrm>
          <a:prstGeom prst="line">
            <a:avLst/>
          </a:prstGeom>
          <a:ln w="9525" cap="flat" cmpd="sng" algn="ctr">
            <a:solidFill>
              <a:srgbClr val="6E9A26"/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4295884" name="Овал 50"/>
          <p:cNvSpPr/>
          <p:nvPr userDrawn="1"/>
        </p:nvSpPr>
        <p:spPr bwMode="auto">
          <a:xfrm>
            <a:off x="6172818" y="3896087"/>
            <a:ext cx="96010" cy="72009"/>
          </a:xfrm>
          <a:prstGeom prst="ellipse">
            <a:avLst/>
          </a:prstGeom>
          <a:solidFill>
            <a:srgbClr val="6E9A26"/>
          </a:solidFill>
          <a:ln>
            <a:noFill/>
          </a:ln>
          <a:effectLst/>
        </p:spPr>
      </p:sp>
      <p:cxnSp>
        <p:nvCxnSpPr>
          <p:cNvPr id="1633377926" name="Прямая соединительная линия 53"/>
          <p:cNvCxnSpPr/>
          <p:nvPr userDrawn="1"/>
        </p:nvCxnSpPr>
        <p:spPr bwMode="auto">
          <a:xfrm>
            <a:off x="6384031" y="3932091"/>
            <a:ext cx="3005061" cy="1"/>
          </a:xfrm>
          <a:prstGeom prst="line">
            <a:avLst/>
          </a:prstGeom>
          <a:ln w="9525" cap="flat" cmpd="sng" algn="ctr">
            <a:solidFill>
              <a:srgbClr val="6E9A26"/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8577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156906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41644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9575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5360728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71725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7565933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2122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7135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1196751"/>
            <a:ext cx="10363199" cy="4896543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139191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20719533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4917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1252552106" name="Title 1"/>
          <p:cNvSpPr>
            <a:spLocks noGrp="1"/>
          </p:cNvSpPr>
          <p:nvPr>
            <p:ph type="title"/>
          </p:nvPr>
        </p:nvSpPr>
        <p:spPr bwMode="auto">
          <a:xfrm>
            <a:off x="719402" y="188640"/>
            <a:ext cx="10753194" cy="864095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6408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0508036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196753"/>
            <a:ext cx="5384799" cy="4929410"/>
          </a:xfrm>
          <a:prstGeom prst="rect">
            <a:avLst/>
          </a:prstGeom>
          <a:noFill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5390606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196753"/>
            <a:ext cx="5384799" cy="4929410"/>
          </a:xfrm>
          <a:prstGeom prst="rect">
            <a:avLst/>
          </a:prstGeom>
          <a:noFill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0041658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5908713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63524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8278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00193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268759"/>
            <a:ext cx="5386917" cy="639762"/>
          </a:xfrm>
          <a:prstGeom prst="rect">
            <a:avLst/>
          </a:prstGeom>
          <a:noFill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4546619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060849"/>
            <a:ext cx="5386917" cy="4065314"/>
          </a:xfrm>
          <a:prstGeom prst="rect">
            <a:avLst/>
          </a:prstGeom>
          <a:noFill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6737534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68" y="1268759"/>
            <a:ext cx="5389033" cy="639762"/>
          </a:xfrm>
          <a:prstGeom prst="rect">
            <a:avLst/>
          </a:prstGeom>
          <a:noFill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7036527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68" y="2060849"/>
            <a:ext cx="5389033" cy="4065314"/>
          </a:xfrm>
          <a:prstGeom prst="rect">
            <a:avLst/>
          </a:prstGeom>
          <a:noFill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4539507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11471243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51980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56377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0814893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02425709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6127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23880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6267265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33596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586636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1196753"/>
            <a:ext cx="6815666" cy="492941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1945433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1" y="1196751"/>
            <a:ext cx="4011084" cy="492941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8195952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08337352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791116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1347006487" name="Title 1"/>
          <p:cNvSpPr>
            <a:spLocks noGrp="1"/>
          </p:cNvSpPr>
          <p:nvPr>
            <p:ph type="title"/>
          </p:nvPr>
        </p:nvSpPr>
        <p:spPr bwMode="auto">
          <a:xfrm>
            <a:off x="719402" y="188640"/>
            <a:ext cx="10753194" cy="864095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33756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1196751"/>
            <a:ext cx="7315200" cy="345638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148128711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4869159"/>
            <a:ext cx="7315200" cy="130303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798292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33014069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25368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107049536" name="Title 1"/>
          <p:cNvSpPr>
            <a:spLocks noGrp="1"/>
          </p:cNvSpPr>
          <p:nvPr>
            <p:ph type="title"/>
          </p:nvPr>
        </p:nvSpPr>
        <p:spPr bwMode="auto">
          <a:xfrm>
            <a:off x="719402" y="188640"/>
            <a:ext cx="10753194" cy="864095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9859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7450296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686211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5649124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5250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26806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8"/>
            <a:ext cx="2743200" cy="5851525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5806187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8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625483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3222504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52674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1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628782" name="Title Placeholder 1"/>
          <p:cNvSpPr>
            <a:spLocks noGrp="1"/>
          </p:cNvSpPr>
          <p:nvPr>
            <p:ph type="title"/>
          </p:nvPr>
        </p:nvSpPr>
        <p:spPr bwMode="auto">
          <a:xfrm>
            <a:off x="719402" y="188640"/>
            <a:ext cx="10753194" cy="86409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>
              <a:defRPr/>
            </a:pPr>
            <a:endParaRPr/>
          </a:p>
        </p:txBody>
      </p:sp>
      <p:sp>
        <p:nvSpPr>
          <p:cNvPr id="83339129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19402" y="1340767"/>
            <a:ext cx="10753194" cy="4968551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9884995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719402" y="6442061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21052934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7920202" y="6416499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1789132" name="Slide Number Placeholder 8"/>
          <p:cNvSpPr>
            <a:spLocks noGrp="1"/>
          </p:cNvSpPr>
          <p:nvPr>
            <p:ph type="sldNum" sz="quarter" idx="4"/>
          </p:nvPr>
        </p:nvSpPr>
        <p:spPr bwMode="auto">
          <a:xfrm>
            <a:off x="5511799" y="6453335"/>
            <a:ext cx="1168399" cy="292099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ctr" defTabSz="914400" rtl="0">
        <a:spcBef>
          <a:spcPts val="398"/>
        </a:spcBef>
        <a:buNone/>
        <a:defRPr sz="3600" b="0" cap="none" spc="0">
          <a:solidFill>
            <a:schemeClr val="bg1"/>
          </a:solidFill>
          <a:latin typeface="+mj-lt"/>
          <a:ea typeface="+mj-ea"/>
          <a:cs typeface="Arial"/>
        </a:defRPr>
      </a:lvl1pPr>
    </p:titleStyle>
    <p:bodyStyle>
      <a:lvl1pPr marL="342900" indent="-342900" algn="l" defTabSz="914400" rtl="0">
        <a:spcBef>
          <a:spcPts val="599"/>
        </a:spcBef>
        <a:spcAft>
          <a:spcPts val="0"/>
        </a:spcAft>
        <a:buClr>
          <a:schemeClr val="accent1"/>
        </a:buClr>
        <a:buFont typeface="Arial"/>
        <a:buChar char="•"/>
        <a:defRPr sz="2200" b="0" i="0" cap="none" spc="28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1pPr>
      <a:lvl2pPr marL="513651" indent="-342900" algn="l" defTabSz="914400" rtl="0">
        <a:spcBef>
          <a:spcPts val="599"/>
        </a:spcBef>
        <a:buClr>
          <a:schemeClr val="accent1"/>
        </a:buClr>
        <a:buFont typeface="Times New Roman"/>
        <a:buChar char="–"/>
        <a:defRPr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2pPr>
      <a:lvl3pPr marL="627951" indent="-285750" algn="l" defTabSz="914400" rtl="0">
        <a:spcBef>
          <a:spcPts val="599"/>
        </a:spcBef>
        <a:buClr>
          <a:schemeClr val="accent1"/>
        </a:buClr>
        <a:buFont typeface="Arial"/>
        <a:buChar char="•"/>
        <a:defRPr sz="18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3pPr>
      <a:lvl4pPr marL="800988" indent="-285750" algn="l" defTabSz="914400" rtl="0">
        <a:spcBef>
          <a:spcPts val="599"/>
        </a:spcBef>
        <a:buClr>
          <a:schemeClr val="accent1"/>
        </a:buClr>
        <a:buFont typeface="Times New Roman"/>
        <a:buChar char="–"/>
        <a:defRPr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4pPr>
      <a:lvl5pPr marL="972438" indent="-285750" algn="l" defTabSz="914400" rtl="0">
        <a:spcBef>
          <a:spcPts val="599"/>
        </a:spcBef>
        <a:buClr>
          <a:schemeClr val="accent1"/>
        </a:buClr>
        <a:buFont typeface="Times New Roman"/>
        <a:buChar char="»"/>
        <a:defRPr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5pPr>
      <a:lvl6pPr marL="1051560" indent="-173735" algn="l" defTabSz="914400" rtl="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6pPr>
      <a:lvl7pPr marL="1234440" indent="-173735" algn="l" defTabSz="914400" rtl="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7pPr>
      <a:lvl8pPr marL="1417319" indent="-173735" algn="l" defTabSz="914400" rtl="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8pPr>
      <a:lvl9pPr marL="1600200" indent="-173735" algn="l" defTabSz="914400" rtl="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641103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Assessment 3</a:t>
            </a:r>
            <a:endParaRPr lang="en-GB"/>
          </a:p>
        </p:txBody>
      </p:sp>
      <p:sp>
        <p:nvSpPr>
          <p:cNvPr id="1595149466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2654098" y="4077070"/>
            <a:ext cx="7237219" cy="115212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>
                <a:latin typeface="Aptos"/>
                <a:ea typeface="Aptos"/>
                <a:cs typeface="Aptos"/>
              </a:rPr>
              <a:t>Lauren </a:t>
            </a:r>
            <a:r>
              <a:rPr lang="en-GB">
                <a:latin typeface="Aptos"/>
                <a:ea typeface="Aptos"/>
                <a:cs typeface="Aptos"/>
              </a:rPr>
              <a:t>Keenan</a:t>
            </a:r>
            <a:endParaRPr lang="en-GB">
              <a:latin typeface="Aptos"/>
              <a:ea typeface="Aptos"/>
              <a:cs typeface="Aptos"/>
            </a:endParaRPr>
          </a:p>
          <a:p>
            <a:pPr>
              <a:defRPr/>
            </a:pPr>
            <a:r>
              <a:rPr lang="en-GB" sz="2200">
                <a:latin typeface="Aptos"/>
                <a:ea typeface="Aptos"/>
                <a:cs typeface="Aptos"/>
              </a:rPr>
              <a:t>Made using 360</a:t>
            </a:r>
            <a:r>
              <a:rPr lang="en-GB" sz="2200">
                <a:latin typeface="Aptos"/>
                <a:ea typeface="Aptos"/>
                <a:cs typeface="Aptos"/>
              </a:rPr>
              <a:t>-Degree Feedback Framework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8610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latin typeface="Arial"/>
                <a:ea typeface="Arial"/>
                <a:cs typeface="Arial"/>
              </a:rPr>
              <a:t>Student 1</a:t>
            </a:r>
            <a:endParaRPr>
              <a:latin typeface="Arial"/>
              <a:cs typeface="Arial"/>
            </a:endParaRPr>
          </a:p>
        </p:txBody>
      </p:sp>
      <p:sp>
        <p:nvSpPr>
          <p:cNvPr id="106600028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196753"/>
            <a:ext cx="5384799" cy="49294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Preferences</a:t>
            </a: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:</a:t>
            </a:r>
            <a:endParaRPr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Studious, eager to teach</a:t>
            </a:r>
            <a:endParaRPr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Wants to break things down to really understand</a:t>
            </a:r>
            <a:endParaRPr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Aptos"/>
              <a:cs typeface="Aptos"/>
            </a:endParaRPr>
          </a:p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endParaRPr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Aptos"/>
              <a:cs typeface="Aptos"/>
            </a:endParaRPr>
          </a:p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Motivators:</a:t>
            </a:r>
            <a:endParaRPr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Learning/building</a:t>
            </a:r>
            <a:endParaRPr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Skill-sharing</a:t>
            </a:r>
            <a:endParaRPr sz="2800">
              <a:latin typeface="Arial"/>
              <a:cs typeface="Arial"/>
            </a:endParaRPr>
          </a:p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endParaRPr>
              <a:latin typeface="Arial"/>
              <a:cs typeface="Arial"/>
            </a:endParaRPr>
          </a:p>
        </p:txBody>
      </p:sp>
      <p:sp>
        <p:nvSpPr>
          <p:cNvPr id="101229851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196753"/>
            <a:ext cx="5384799" cy="4929410"/>
          </a:xfrm>
          <a:prstGeom prst="rect">
            <a:avLst/>
          </a:prstGeom>
          <a:noFill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Strengths: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Driven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Consistent &amp; reliable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Versatile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Limitations: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Get caught on over-explaining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Communication confusing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2969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latin typeface="Arial"/>
                <a:ea typeface="Arial"/>
                <a:cs typeface="Arial"/>
              </a:rPr>
              <a:t>Student 2</a:t>
            </a:r>
            <a:endParaRPr>
              <a:latin typeface="Arial"/>
              <a:cs typeface="Arial"/>
            </a:endParaRPr>
          </a:p>
        </p:txBody>
      </p:sp>
      <p:sp>
        <p:nvSpPr>
          <p:cNvPr id="26774439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196752"/>
            <a:ext cx="5384800" cy="492940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Preferences</a:t>
            </a: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:</a:t>
            </a:r>
            <a:endParaRPr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Clarity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Aptos"/>
              <a:ea typeface="Aptos"/>
              <a:cs typeface="Aptos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Wants to contribute feasibly</a:t>
            </a:r>
            <a:endParaRPr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Aptos"/>
              <a:cs typeface="Aptos"/>
            </a:endParaRPr>
          </a:p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endParaRPr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Aptos"/>
              <a:cs typeface="Aptos"/>
            </a:endParaRPr>
          </a:p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Motivators:</a:t>
            </a:r>
            <a:endParaRPr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cs typeface="Aptos"/>
              </a:rPr>
              <a:t>Wants to contribute meaningfully</a:t>
            </a:r>
            <a:endParaRPr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>
                <a:latin typeface="Arial"/>
                <a:cs typeface="Arial"/>
              </a:rPr>
              <a:t>Wants to learn, by doing and by observing</a:t>
            </a:r>
            <a:endParaRPr sz="2800">
              <a:latin typeface="Arial"/>
              <a:cs typeface="Arial"/>
            </a:endParaRPr>
          </a:p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endParaRPr>
              <a:latin typeface="Arial"/>
              <a:cs typeface="Arial"/>
            </a:endParaRPr>
          </a:p>
        </p:txBody>
      </p:sp>
      <p:sp>
        <p:nvSpPr>
          <p:cNvPr id="1287122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196752"/>
            <a:ext cx="5384800" cy="4929409"/>
          </a:xfrm>
          <a:prstGeom prst="rect">
            <a:avLst/>
          </a:prstGeom>
          <a:noFill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Strengths: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Open attitude, grounded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Consistent &amp; reliable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Honest &amp; consistent communication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Limitations: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Confidence 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Experience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816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latin typeface="Arial"/>
                <a:ea typeface="Arial"/>
                <a:cs typeface="Arial"/>
              </a:rPr>
              <a:t>Student 3</a:t>
            </a:r>
            <a:endParaRPr>
              <a:latin typeface="Arial"/>
              <a:cs typeface="Arial"/>
            </a:endParaRPr>
          </a:p>
        </p:txBody>
      </p:sp>
      <p:sp>
        <p:nvSpPr>
          <p:cNvPr id="32320838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196752"/>
            <a:ext cx="5384800" cy="492940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Preferences</a:t>
            </a: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:</a:t>
            </a:r>
            <a:endParaRPr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Studious, theoretical</a:t>
            </a:r>
            <a:endParaRPr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Prefers smaller teams</a:t>
            </a:r>
            <a:endParaRPr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Aptos"/>
              <a:cs typeface="Aptos"/>
            </a:endParaRPr>
          </a:p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endParaRPr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Aptos"/>
              <a:cs typeface="Aptos"/>
            </a:endParaRPr>
          </a:p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Motivators:</a:t>
            </a:r>
            <a:endParaRPr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Learning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Aptos"/>
              <a:ea typeface="Aptos"/>
              <a:cs typeface="Aptos"/>
            </a:endParaRPr>
          </a:p>
          <a:p>
            <a:pPr>
              <a:defRPr/>
            </a:pPr>
            <a:r>
              <a:rPr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cs typeface="Aptos"/>
              </a:rPr>
              <a:t>Solution-oriented</a:t>
            </a:r>
            <a:endParaRPr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High-degree</a:t>
            </a:r>
            <a:endParaRPr sz="2800">
              <a:latin typeface="Arial"/>
              <a:cs typeface="Arial"/>
            </a:endParaRPr>
          </a:p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endParaRPr>
              <a:latin typeface="Arial"/>
              <a:cs typeface="Arial"/>
            </a:endParaRPr>
          </a:p>
        </p:txBody>
      </p:sp>
      <p:sp>
        <p:nvSpPr>
          <p:cNvPr id="2727560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196752"/>
            <a:ext cx="5384800" cy="492940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Strengths: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Intelligent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Driven if interested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Great valuable input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Limitations: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Communicating blockers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Aptos"/>
              <a:ea typeface="Aptos"/>
              <a:cs typeface="Aptos"/>
            </a:endParaRPr>
          </a:p>
          <a:p>
            <a:pPr>
              <a:defRPr/>
            </a:pPr>
            <a:r>
              <a:rPr lang="en-GB" sz="2800" b="0" i="0" u="none" strike="noStrike" cap="none" spc="28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Aptos"/>
                <a:cs typeface="Aptos"/>
              </a:rPr>
              <a:t>Reliability</a:t>
            </a: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Aptos"/>
              <a:ea typeface="Aptos"/>
              <a:cs typeface="Aptos"/>
            </a:endParaRPr>
          </a:p>
          <a:p>
            <a:pPr>
              <a:defRPr/>
            </a:pP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en-GB" sz="2800" b="0" i="0" u="none" strike="noStrike" cap="none" spc="28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14550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Why it’s useful for teamwork</a:t>
            </a:r>
            <a:endParaRPr/>
          </a:p>
        </p:txBody>
      </p:sp>
      <p:sp>
        <p:nvSpPr>
          <p:cNvPr id="899489944" name=""/>
          <p:cNvSpPr txBox="1"/>
          <p:nvPr/>
        </p:nvSpPr>
        <p:spPr bwMode="auto">
          <a:xfrm rot="0" flipH="0" flipV="0">
            <a:off x="721045" y="1417673"/>
            <a:ext cx="11064184" cy="6492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94023" indent="-394023">
              <a:buFont typeface="Arial"/>
              <a:buChar char="•"/>
              <a:defRPr/>
            </a:pPr>
            <a:r>
              <a:rPr sz="2800">
                <a:latin typeface="Aptos"/>
                <a:ea typeface="Aptos"/>
                <a:cs typeface="Aptos"/>
              </a:rPr>
              <a:t>Understand teammates, how they fit together</a:t>
            </a:r>
            <a:endParaRPr sz="2800">
              <a:latin typeface="Aptos"/>
              <a:ea typeface="Aptos"/>
              <a:cs typeface="Aptos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>
                <a:latin typeface="Aptos"/>
                <a:ea typeface="Aptos"/>
                <a:cs typeface="Aptos"/>
              </a:rPr>
              <a:t>How to work concurrently to maximise progress</a:t>
            </a:r>
            <a:endParaRPr sz="2800">
              <a:latin typeface="Aptos"/>
              <a:ea typeface="Aptos"/>
              <a:cs typeface="Aptos"/>
            </a:endParaRPr>
          </a:p>
          <a:p>
            <a:pPr marL="394023" indent="-394023">
              <a:buFont typeface="Arial"/>
              <a:buChar char="•"/>
              <a:defRPr/>
            </a:pPr>
            <a:endParaRPr sz="2800">
              <a:latin typeface="Aptos"/>
              <a:ea typeface="Aptos"/>
              <a:cs typeface="Aptos"/>
            </a:endParaRPr>
          </a:p>
          <a:p>
            <a:pPr marL="394023" indent="-394023">
              <a:buFont typeface="Arial"/>
              <a:buChar char="•"/>
              <a:defRPr/>
            </a:pPr>
            <a:endParaRPr sz="2800">
              <a:latin typeface="Aptos"/>
              <a:ea typeface="Aptos"/>
              <a:cs typeface="Aptos"/>
            </a:endParaRPr>
          </a:p>
          <a:p>
            <a:pPr>
              <a:defRPr/>
            </a:pPr>
            <a:endParaRPr sz="2800">
              <a:latin typeface="Aptos"/>
              <a:cs typeface="Aptos"/>
            </a:endParaRPr>
          </a:p>
          <a:p>
            <a:pPr marL="394023" indent="-394023">
              <a:buFont typeface="Arial"/>
              <a:buChar char="–"/>
              <a:defRPr/>
            </a:pPr>
            <a:endParaRPr sz="2800">
              <a:latin typeface="Aptos"/>
              <a:cs typeface="Aptos"/>
            </a:endParaRPr>
          </a:p>
          <a:p>
            <a:pPr marL="394023" indent="-394023">
              <a:buFont typeface="Arial"/>
              <a:buChar char="–"/>
              <a:defRPr/>
            </a:pPr>
            <a:endParaRPr sz="2800">
              <a:latin typeface="Aptos"/>
              <a:cs typeface="Aptos"/>
            </a:endParaRPr>
          </a:p>
          <a:p>
            <a:pPr marL="394023" indent="-394023">
              <a:buFont typeface="Arial"/>
              <a:buChar char="–"/>
              <a:defRPr/>
            </a:pPr>
            <a:endParaRPr sz="2800">
              <a:latin typeface="Aptos"/>
              <a:cs typeface="Aptos"/>
            </a:endParaRPr>
          </a:p>
          <a:p>
            <a:pPr marL="394023" indent="-394023">
              <a:buFont typeface="Arial"/>
              <a:buChar char="–"/>
              <a:defRPr/>
            </a:pPr>
            <a:endParaRPr sz="2800">
              <a:latin typeface="Aptos"/>
              <a:cs typeface="Aptos"/>
            </a:endParaRPr>
          </a:p>
          <a:p>
            <a:pPr marL="394023" indent="-394023">
              <a:buFont typeface="Arial"/>
              <a:buChar char="–"/>
              <a:defRPr/>
            </a:pPr>
            <a:endParaRPr sz="2800">
              <a:latin typeface="Aptos"/>
              <a:cs typeface="Aptos"/>
            </a:endParaRPr>
          </a:p>
          <a:p>
            <a:pPr marL="394023" indent="-394023">
              <a:buFont typeface="Arial"/>
              <a:buChar char="–"/>
              <a:defRPr/>
            </a:pPr>
            <a:endParaRPr sz="2800">
              <a:latin typeface="Aptos"/>
              <a:cs typeface="Aptos"/>
            </a:endParaRPr>
          </a:p>
          <a:p>
            <a:pPr marL="394023" indent="-394023">
              <a:buFont typeface="Arial"/>
              <a:buChar char="–"/>
              <a:defRPr/>
            </a:pPr>
            <a:endParaRPr sz="2800">
              <a:latin typeface="Aptos"/>
              <a:cs typeface="Aptos"/>
            </a:endParaRPr>
          </a:p>
          <a:p>
            <a:pPr marL="394023" indent="-394023">
              <a:buFont typeface="Arial"/>
              <a:buChar char="–"/>
              <a:defRPr/>
            </a:pPr>
            <a:endParaRPr sz="2800">
              <a:latin typeface="Aptos"/>
              <a:cs typeface="Aptos"/>
            </a:endParaRPr>
          </a:p>
          <a:p>
            <a:pPr marL="394023" indent="-394023">
              <a:buFont typeface="Arial"/>
              <a:buChar char="–"/>
              <a:defRPr/>
            </a:pPr>
            <a:endParaRPr sz="2800">
              <a:latin typeface="Aptos"/>
              <a:cs typeface="Aptos"/>
            </a:endParaRPr>
          </a:p>
          <a:p>
            <a:pPr>
              <a:defRPr/>
            </a:pPr>
            <a:endParaRPr sz="2800">
              <a:latin typeface="Aptos"/>
              <a:cs typeface="Aptos"/>
            </a:endParaRPr>
          </a:p>
        </p:txBody>
      </p:sp>
      <p:pic>
        <p:nvPicPr>
          <p:cNvPr id="188976159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647686" y="2340577"/>
            <a:ext cx="7398188" cy="43217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218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How to motivate</a:t>
            </a:r>
            <a:endParaRPr/>
          </a:p>
        </p:txBody>
      </p:sp>
      <p:sp>
        <p:nvSpPr>
          <p:cNvPr id="1847202549" name=""/>
          <p:cNvSpPr txBox="1"/>
          <p:nvPr/>
        </p:nvSpPr>
        <p:spPr bwMode="auto">
          <a:xfrm rot="0" flipH="0" flipV="0">
            <a:off x="721045" y="1329069"/>
            <a:ext cx="11136184" cy="6919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94022" indent="-394022">
              <a:buFont typeface="Arial"/>
              <a:buChar char="•"/>
              <a:defRPr/>
            </a:pPr>
            <a:r>
              <a:rPr sz="2800">
                <a:latin typeface="Aptos"/>
                <a:ea typeface="Aptos"/>
                <a:cs typeface="Aptos"/>
              </a:rPr>
              <a:t>Understand preferences, motivations, strengths</a:t>
            </a:r>
            <a:endParaRPr sz="2800">
              <a:latin typeface="Aptos"/>
              <a:ea typeface="Aptos"/>
              <a:cs typeface="Aptos"/>
            </a:endParaRPr>
          </a:p>
          <a:p>
            <a:pPr marL="394022" indent="-394022">
              <a:buFont typeface="Arial"/>
              <a:buChar char="•"/>
              <a:defRPr/>
            </a:pPr>
            <a:r>
              <a:rPr sz="2800">
                <a:latin typeface="Aptos"/>
                <a:ea typeface="Aptos"/>
                <a:cs typeface="Aptos"/>
              </a:rPr>
              <a:t>Identify opportunities and present them</a:t>
            </a:r>
            <a:endParaRPr sz="2800">
              <a:latin typeface="Aptos"/>
              <a:ea typeface="Aptos"/>
              <a:cs typeface="Aptos"/>
            </a:endParaRPr>
          </a:p>
          <a:p>
            <a:pPr marL="394022" indent="-394022">
              <a:buFont typeface="Arial"/>
              <a:buChar char="•"/>
              <a:defRPr/>
            </a:pPr>
            <a:r>
              <a:rPr sz="2800">
                <a:latin typeface="Aptos"/>
                <a:ea typeface="Aptos"/>
                <a:cs typeface="Aptos"/>
              </a:rPr>
              <a:t>Encouraging ownership</a:t>
            </a:r>
            <a:endParaRPr sz="2800">
              <a:latin typeface="Aptos"/>
              <a:ea typeface="Aptos"/>
              <a:cs typeface="Aptos"/>
            </a:endParaRPr>
          </a:p>
          <a:p>
            <a:pPr marL="394022" indent="-394022">
              <a:buFont typeface="Arial"/>
              <a:buChar char="•"/>
              <a:defRPr/>
            </a:pPr>
            <a:endParaRPr sz="2800">
              <a:latin typeface="Aptos"/>
              <a:ea typeface="Aptos"/>
              <a:cs typeface="Aptos"/>
            </a:endParaRPr>
          </a:p>
          <a:p>
            <a:pPr marL="394022" indent="-394022">
              <a:buFont typeface="Arial"/>
              <a:buChar char="•"/>
              <a:defRPr/>
            </a:pPr>
            <a:endParaRPr sz="2800">
              <a:latin typeface="Aptos"/>
              <a:ea typeface="Aptos"/>
              <a:cs typeface="Aptos"/>
            </a:endParaRPr>
          </a:p>
          <a:p>
            <a:pPr marL="394022" indent="-394022">
              <a:buFont typeface="Arial"/>
              <a:buChar char="–"/>
              <a:defRPr/>
            </a:pPr>
            <a:endParaRPr sz="2800">
              <a:latin typeface="Aptos"/>
              <a:cs typeface="Aptos"/>
            </a:endParaRPr>
          </a:p>
          <a:p>
            <a:pPr marL="394022" indent="-394022">
              <a:buFont typeface="Arial"/>
              <a:buChar char="–"/>
              <a:defRPr/>
            </a:pPr>
            <a:endParaRPr sz="2800">
              <a:latin typeface="Aptos"/>
              <a:cs typeface="Aptos"/>
            </a:endParaRPr>
          </a:p>
          <a:p>
            <a:pPr marL="394022" indent="-394022">
              <a:buFont typeface="Arial"/>
              <a:buChar char="–"/>
              <a:defRPr/>
            </a:pPr>
            <a:endParaRPr sz="2800">
              <a:latin typeface="Aptos"/>
              <a:cs typeface="Aptos"/>
            </a:endParaRPr>
          </a:p>
          <a:p>
            <a:pPr marL="394022" indent="-394022">
              <a:buFont typeface="Arial"/>
              <a:buChar char="–"/>
              <a:defRPr/>
            </a:pPr>
            <a:endParaRPr sz="2800">
              <a:latin typeface="Aptos"/>
              <a:cs typeface="Aptos"/>
            </a:endParaRPr>
          </a:p>
          <a:p>
            <a:pPr marL="394022" indent="-394022">
              <a:buFont typeface="Arial"/>
              <a:buChar char="–"/>
              <a:defRPr/>
            </a:pPr>
            <a:endParaRPr sz="2800">
              <a:latin typeface="Aptos"/>
              <a:cs typeface="Aptos"/>
            </a:endParaRPr>
          </a:p>
          <a:p>
            <a:pPr marL="394022" indent="-394022">
              <a:buFont typeface="Arial"/>
              <a:buChar char="–"/>
              <a:defRPr/>
            </a:pPr>
            <a:endParaRPr sz="2800">
              <a:latin typeface="Aptos"/>
              <a:cs typeface="Aptos"/>
            </a:endParaRPr>
          </a:p>
          <a:p>
            <a:pPr marL="394022" indent="-394022">
              <a:buFont typeface="Arial"/>
              <a:buChar char="–"/>
              <a:defRPr/>
            </a:pPr>
            <a:endParaRPr sz="2800">
              <a:latin typeface="Aptos"/>
              <a:cs typeface="Aptos"/>
            </a:endParaRPr>
          </a:p>
          <a:p>
            <a:pPr marL="394022" indent="-394022">
              <a:buFont typeface="Arial"/>
              <a:buChar char="–"/>
              <a:defRPr/>
            </a:pPr>
            <a:endParaRPr sz="2800">
              <a:latin typeface="Aptos"/>
              <a:cs typeface="Aptos"/>
            </a:endParaRPr>
          </a:p>
          <a:p>
            <a:pPr marL="394022" indent="-394022">
              <a:buFont typeface="Arial"/>
              <a:buChar char="–"/>
              <a:defRPr/>
            </a:pPr>
            <a:endParaRPr sz="2800">
              <a:latin typeface="Aptos"/>
              <a:cs typeface="Aptos"/>
            </a:endParaRPr>
          </a:p>
          <a:p>
            <a:pPr marL="394022" indent="-394022">
              <a:buFont typeface="Arial"/>
              <a:buChar char="–"/>
              <a:defRPr/>
            </a:pPr>
            <a:endParaRPr sz="2800">
              <a:latin typeface="Aptos"/>
              <a:cs typeface="Aptos"/>
            </a:endParaRPr>
          </a:p>
          <a:p>
            <a:pPr>
              <a:defRPr/>
            </a:pPr>
            <a:endParaRPr sz="2800">
              <a:latin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233848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90562" y="309562"/>
            <a:ext cx="10810874" cy="62388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Green leaf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lassic">
      <a:majorFont>
        <a:latin typeface="Arial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SOHO">
      <a:fillStyleLst>
        <a:solidFill>
          <a:schemeClr val="phClr"/>
        </a:solidFill>
        <a:gradFill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>
          <a:gsLst>
            <a:gs pos="0">
              <a:schemeClr val="phClr">
                <a:shade val="67000"/>
                <a:satMod val="150000"/>
              </a:schemeClr>
            </a:gs>
            <a:gs pos="30000">
              <a:schemeClr val="phClr">
                <a:shade val="94000"/>
                <a:satMod val="130000"/>
              </a:schemeClr>
            </a:gs>
            <a:gs pos="45000">
              <a:schemeClr val="phClr">
                <a:shade val="100000"/>
                <a:satMod val="120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4000"/>
                <a:satMod val="130000"/>
              </a:schemeClr>
            </a:gs>
            <a:gs pos="100000">
              <a:schemeClr val="phClr">
                <a:shade val="67000"/>
                <a:satMod val="15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2700000" algn="b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2700000" algn="b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2700000" algn="b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700000"/>
            </a:lightRig>
          </a:scene3d>
          <a:sp3d contourW="19050">
            <a:bevelT w="31750" h="38100"/>
            <a:contourClr>
              <a:schemeClr val="phClr">
                <a:shade val="15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64000"/>
                <a:satMod val="210000"/>
              </a:schemeClr>
            </a:gs>
            <a:gs pos="40000">
              <a:schemeClr val="phClr">
                <a:tint val="72000"/>
                <a:shade val="99000"/>
                <a:satMod val="200000"/>
              </a:schemeClr>
            </a:gs>
            <a:gs pos="100000">
              <a:schemeClr val="phClr">
                <a:tint val="100000"/>
                <a:shade val="30000"/>
                <a:alpha val="100000"/>
                <a:satMod val="175000"/>
                <a:lumMod val="100000"/>
              </a:schemeClr>
            </a:gs>
          </a:gsLst>
          <a:path path="circle"/>
        </a:gradFill>
        <a:blipFill rotWithShape="1">
          <a:blip r:embed="rId1">
            <a:duotone>
              <a:schemeClr val="phClr">
                <a:tint val="86000"/>
                <a:alpha val="90000"/>
              </a:schemeClr>
              <a:schemeClr val="phClr">
                <a:shade val="49000"/>
                <a:satMod val="120000"/>
              </a:schemeClr>
            </a:duotone>
          </a:blip>
          <a:stretch/>
        </a:blip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modified xsi:type="dcterms:W3CDTF">2026-04-23T09:44:31Z</dcterms:modified>
</cp:coreProperties>
</file>